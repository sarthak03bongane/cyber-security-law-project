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 Bold" charset="1" panose="020F0702030404030204"/>
      <p:regular r:id="rId29"/>
    </p:embeddedFont>
    <p:embeddedFont>
      <p:font typeface="Cambria Bold" charset="1" panose="02040803050406030204"/>
      <p:regular r:id="rId30"/>
    </p:embeddedFont>
    <p:embeddedFont>
      <p:font typeface="Calibri (MS) Italics" charset="1" panose="020F05020202040A0204"/>
      <p:regular r:id="rId31"/>
    </p:embeddedFont>
    <p:embeddedFont>
      <p:font typeface="Calibri (MS)" charset="1" panose="020F0502020204030204"/>
      <p:regular r:id="rId32"/>
    </p:embeddedFont>
    <p:embeddedFont>
      <p:font typeface="Cambria Bold Italics" charset="1" panose="020408030504060A0204"/>
      <p:regular r:id="rId35"/>
    </p:embeddedFont>
    <p:embeddedFont>
      <p:font typeface="Calibri (MS) Bold Italics" charset="1" panose="020F07020304040A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3.png" Type="http://schemas.openxmlformats.org/officeDocument/2006/relationships/image"/><Relationship Id="rId8" Target="../media/image6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10.png" Type="http://schemas.openxmlformats.org/officeDocument/2006/relationships/image"/><Relationship Id="rId7" Target="../media/image32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142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55880" y="-3429000"/>
            <a:ext cx="9601200" cy="9601200"/>
            <a:chOff x="0" y="0"/>
            <a:chExt cx="12801600" cy="128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16213E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172200"/>
            <a:ext cx="8229600" cy="8229600"/>
            <a:chOff x="0" y="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A4A6B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19872" y="1440180"/>
            <a:ext cx="2057400" cy="2057400"/>
            <a:chOff x="0" y="0"/>
            <a:chExt cx="2743200" cy="274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668512" y="1988820"/>
            <a:ext cx="960120" cy="960120"/>
            <a:chOff x="0" y="0"/>
            <a:chExt cx="1280160" cy="128016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4046220"/>
            <a:ext cx="15540228" cy="685800"/>
            <a:chOff x="0" y="0"/>
            <a:chExt cx="20720304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0304" cy="914400"/>
            </a:xfrm>
            <a:custGeom>
              <a:avLst/>
              <a:gdLst/>
              <a:ahLst/>
              <a:cxnLst/>
              <a:rect r="r" b="b" t="t" l="l"/>
              <a:pathLst>
                <a:path h="91440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1530" r="0" b="-3915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72030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45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 SECURITY LAW IN INDIA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4732020"/>
            <a:ext cx="15540228" cy="1508760"/>
            <a:chOff x="0" y="0"/>
            <a:chExt cx="20720304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2030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0720304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Study of the Information Technology Act, 2000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57400" y="6240780"/>
            <a:ext cx="14168628" cy="822960"/>
            <a:chOff x="0" y="0"/>
            <a:chExt cx="18891504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8915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891504">
                  <a:moveTo>
                    <a:pt x="0" y="0"/>
                  </a:moveTo>
                  <a:lnTo>
                    <a:pt x="18891504" y="0"/>
                  </a:lnTo>
                  <a:lnTo>
                    <a:pt x="188915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467" r="0" b="-28546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8915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C7CC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Legal Framework, Provisions, and Challenges in the Digital Age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7200900"/>
            <a:ext cx="15540228" cy="548640"/>
            <a:chOff x="0" y="0"/>
            <a:chExt cx="20720304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0304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1913" r="0" b="-50191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72030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C9A2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● ● ●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8435340"/>
            <a:ext cx="15540228" cy="1371600"/>
            <a:chOff x="0" y="0"/>
            <a:chExt cx="20720304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20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765" r="0" b="-17076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20720304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42"/>
                </a:lnSpc>
              </a:pPr>
              <a:r>
                <a:rPr lang="en-US" sz="1950" b="true">
                  <a:solidFill>
                    <a:srgbClr val="9AA2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Name: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[Sarthak Bongane &amp; Aditya Bhogavkar]</a:t>
              </a:r>
            </a:p>
            <a:p>
              <a:pPr algn="ctr">
                <a:lnSpc>
                  <a:spcPts val="3042"/>
                </a:lnSpc>
              </a:pPr>
              <a:r>
                <a:rPr lang="en-US" sz="1950" b="true">
                  <a:solidFill>
                    <a:srgbClr val="9AA2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 Number: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[24101C0058 &amp; 24101B0073]   |   </a:t>
              </a:r>
              <a:r>
                <a:rPr lang="en-US" sz="1950" b="true">
                  <a:solidFill>
                    <a:srgbClr val="9AA2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Course: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[Cybersecurity]</a:t>
              </a:r>
            </a:p>
            <a:p>
              <a:pPr algn="ctr">
                <a:lnSpc>
                  <a:spcPts val="3042"/>
                </a:lnSpc>
              </a:pPr>
              <a:r>
                <a:rPr lang="en-US" sz="1950" b="true">
                  <a:solidFill>
                    <a:srgbClr val="9AA2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Date: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[20/06/2026]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3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7612380" cy="3223260"/>
            <a:chOff x="0" y="0"/>
            <a:chExt cx="10149840" cy="429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3536" y="0"/>
                  </a:lnTo>
                  <a:cubicBezTo>
                    <a:pt x="10084308" y="0"/>
                    <a:pt x="10149840" y="65532"/>
                    <a:pt x="10149840" y="146304"/>
                  </a:cubicBezTo>
                  <a:lnTo>
                    <a:pt x="10149840" y="4151376"/>
                  </a:lnTo>
                  <a:cubicBezTo>
                    <a:pt x="10149840" y="4232148"/>
                    <a:pt x="10084308" y="4297680"/>
                    <a:pt x="1000353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008" y="3127248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008" y="3127248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94560" y="3099816"/>
            <a:ext cx="5897880" cy="617220"/>
            <a:chOff x="0" y="0"/>
            <a:chExt cx="786384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63840" cy="822960"/>
            </a:xfrm>
            <a:custGeom>
              <a:avLst/>
              <a:gdLst/>
              <a:ahLst/>
              <a:cxnLst/>
              <a:rect r="r" b="b" t="t" l="l"/>
              <a:pathLst>
                <a:path h="82296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78638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internet boom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1872" y="3979545"/>
            <a:ext cx="67894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Rapid growth of internet use, e-commerce, and digital communication transformed how India transacts and communicates.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46820" y="2743200"/>
            <a:ext cx="7612380" cy="3223260"/>
            <a:chOff x="0" y="0"/>
            <a:chExt cx="10149840" cy="4297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3536" y="0"/>
                  </a:lnTo>
                  <a:cubicBezTo>
                    <a:pt x="10084308" y="0"/>
                    <a:pt x="10149840" y="65532"/>
                    <a:pt x="10149840" y="146304"/>
                  </a:cubicBezTo>
                  <a:lnTo>
                    <a:pt x="10149840" y="4151376"/>
                  </a:lnTo>
                  <a:cubicBezTo>
                    <a:pt x="10149840" y="4232148"/>
                    <a:pt x="10084308" y="4297680"/>
                    <a:pt x="1000353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30868" y="3127248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230868" y="3127248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18420" y="3099816"/>
            <a:ext cx="5897880" cy="617220"/>
            <a:chOff x="0" y="0"/>
            <a:chExt cx="786384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822960"/>
            </a:xfrm>
            <a:custGeom>
              <a:avLst/>
              <a:gdLst/>
              <a:ahLst/>
              <a:cxnLst/>
              <a:rect r="r" b="b" t="t" l="l"/>
              <a:pathLst>
                <a:path h="82296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8638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legal vacuum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285732" y="3979545"/>
            <a:ext cx="67894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Indian law had no framework to recognise electronic records, digital signatures, or prosecute computer-related crime.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22960" y="6377940"/>
            <a:ext cx="7612380" cy="3223260"/>
            <a:chOff x="0" y="0"/>
            <a:chExt cx="10149840" cy="429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3536" y="0"/>
                  </a:lnTo>
                  <a:cubicBezTo>
                    <a:pt x="10084308" y="0"/>
                    <a:pt x="10149840" y="65532"/>
                    <a:pt x="10149840" y="146304"/>
                  </a:cubicBezTo>
                  <a:lnTo>
                    <a:pt x="10149840" y="4151376"/>
                  </a:lnTo>
                  <a:cubicBezTo>
                    <a:pt x="10149840" y="4232148"/>
                    <a:pt x="10084308" y="4297680"/>
                    <a:pt x="1000353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7008" y="6761988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07008" y="6761988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94560" y="6734556"/>
            <a:ext cx="5897880" cy="617220"/>
            <a:chOff x="0" y="0"/>
            <a:chExt cx="786384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63840" cy="822960"/>
            </a:xfrm>
            <a:custGeom>
              <a:avLst/>
              <a:gdLst/>
              <a:ahLst/>
              <a:cxnLst/>
              <a:rect r="r" b="b" t="t" l="l"/>
              <a:pathLst>
                <a:path h="82296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78638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legislative response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61872" y="7614285"/>
            <a:ext cx="67894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Parliament enacted the Information Technology Act, 2000 — India's first dedicated cyber law.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846820" y="6377940"/>
            <a:ext cx="7612380" cy="3223260"/>
            <a:chOff x="0" y="0"/>
            <a:chExt cx="10149840" cy="429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3536" y="0"/>
                  </a:lnTo>
                  <a:cubicBezTo>
                    <a:pt x="10084308" y="0"/>
                    <a:pt x="10149840" y="65532"/>
                    <a:pt x="10149840" y="146304"/>
                  </a:cubicBezTo>
                  <a:lnTo>
                    <a:pt x="10149840" y="4151376"/>
                  </a:lnTo>
                  <a:cubicBezTo>
                    <a:pt x="10149840" y="4232148"/>
                    <a:pt x="10084308" y="4297680"/>
                    <a:pt x="1000353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230868" y="6761988"/>
            <a:ext cx="754380" cy="754380"/>
            <a:chOff x="0" y="0"/>
            <a:chExt cx="100584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230868" y="6761988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18420" y="6734556"/>
            <a:ext cx="5897880" cy="617220"/>
            <a:chOff x="0" y="0"/>
            <a:chExt cx="786384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863840" cy="822960"/>
            </a:xfrm>
            <a:custGeom>
              <a:avLst/>
              <a:gdLst/>
              <a:ahLst/>
              <a:cxnLst/>
              <a:rect r="r" b="b" t="t" l="l"/>
              <a:pathLst>
                <a:path h="82296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8638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Continuing relevance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285732" y="7614285"/>
            <a:ext cx="67894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The Act still forms the backbone of India's cyber legal framework, even as newer laws supplement it.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DEFINITION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is Cyber Law?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229600" cy="2331720"/>
            <a:chOff x="0" y="0"/>
            <a:chExt cx="1097280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0" r="0" b="-187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10972800" cy="3242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Cyber law is the body of legal rules that governs the use of the internet, computer systems, digital transactions, and the prevention or punishment of cybercrime.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869180"/>
            <a:ext cx="8229600" cy="548640"/>
            <a:chOff x="0" y="0"/>
            <a:chExt cx="10972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A4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typically spans four broad areas: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" y="5541264"/>
            <a:ext cx="438912" cy="438912"/>
            <a:chOff x="0" y="0"/>
            <a:chExt cx="585216" cy="58521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77340" y="5486400"/>
            <a:ext cx="7543800" cy="548640"/>
            <a:chOff x="0" y="0"/>
            <a:chExt cx="10058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05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Protection  —  </a:t>
              </a:r>
              <a:r>
                <a:rPr lang="en-US" sz="18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Safeguarding personal and sensitive information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1540" y="6391656"/>
            <a:ext cx="438912" cy="438912"/>
            <a:chOff x="0" y="0"/>
            <a:chExt cx="585216" cy="58521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77340" y="6336792"/>
            <a:ext cx="7543800" cy="548640"/>
            <a:chOff x="0" y="0"/>
            <a:chExt cx="100584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05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E-Commerce  —  </a:t>
              </a:r>
              <a:r>
                <a:rPr lang="en-US" sz="18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Legal validity of online contracts and transactions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1540" y="7242048"/>
            <a:ext cx="438912" cy="438912"/>
            <a:chOff x="0" y="0"/>
            <a:chExt cx="585216" cy="5852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77340" y="7187184"/>
            <a:ext cx="7543800" cy="548640"/>
            <a:chOff x="0" y="0"/>
            <a:chExt cx="100584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05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IP Online  —  </a:t>
              </a:r>
              <a:r>
                <a:rPr lang="en-US" sz="18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Protecting digital content and intellectual property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1540" y="8092440"/>
            <a:ext cx="438912" cy="438912"/>
            <a:chOff x="0" y="0"/>
            <a:chExt cx="585216" cy="585216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77340" y="8037576"/>
            <a:ext cx="7543800" cy="548640"/>
            <a:chOff x="0" y="0"/>
            <a:chExt cx="1005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05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Criminal Liability  —  </a:t>
              </a:r>
              <a:r>
                <a:rPr lang="en-US" sz="18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Punishing hacking, fraud, and digital offences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38360" y="2537460"/>
            <a:ext cx="7680960" cy="6652260"/>
            <a:chOff x="0" y="0"/>
            <a:chExt cx="10241280" cy="8869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8723376"/>
                  </a:lnTo>
                  <a:cubicBezTo>
                    <a:pt x="10241280" y="8804148"/>
                    <a:pt x="10175748" y="8869680"/>
                    <a:pt x="10094976" y="8869680"/>
                  </a:cubicBezTo>
                  <a:lnTo>
                    <a:pt x="146304" y="8869680"/>
                  </a:lnTo>
                  <a:cubicBezTo>
                    <a:pt x="65532" y="8869680"/>
                    <a:pt x="0" y="8804148"/>
                    <a:pt x="0" y="872337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961620" y="3154680"/>
            <a:ext cx="1371600" cy="1371600"/>
            <a:chOff x="0" y="0"/>
            <a:chExt cx="1828800" cy="18288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424160" y="4800600"/>
            <a:ext cx="6309360" cy="1371600"/>
            <a:chOff x="0" y="0"/>
            <a:chExt cx="841248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12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84124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b="true" sz="2550" i="true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Cyber law exists where</a:t>
              </a:r>
            </a:p>
            <a:p>
              <a:pPr algn="ctr">
                <a:lnSpc>
                  <a:spcPts val="3672"/>
                </a:lnSpc>
              </a:pPr>
              <a:r>
                <a:rPr lang="en-US" b="true" sz="2550" i="true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law meets technology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61320" y="6446520"/>
            <a:ext cx="6035040" cy="2194560"/>
            <a:chOff x="0" y="0"/>
            <a:chExt cx="8046720" cy="2926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8046720" cy="3021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2"/>
                </a:lnSpc>
              </a:pPr>
              <a:r>
                <a:rPr lang="en-US" sz="1875">
                  <a:solidFill>
                    <a:srgbClr val="D8DC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India, cyber law draws primarily from the IT Act, 2000, supplemented by the Indian Penal Code and sector-specific rules.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BACKGROUND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Background and Need for the 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291840"/>
            <a:ext cx="3833622" cy="4663440"/>
            <a:chOff x="0" y="0"/>
            <a:chExt cx="5111496" cy="6217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1496" cy="6217920"/>
            </a:xfrm>
            <a:custGeom>
              <a:avLst/>
              <a:gdLst/>
              <a:ahLst/>
              <a:cxnLst/>
              <a:rect r="r" b="b" t="t" l="l"/>
              <a:pathLst>
                <a:path h="6217920" w="511149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83480" y="0"/>
                  </a:lnTo>
                  <a:cubicBezTo>
                    <a:pt x="5054219" y="0"/>
                    <a:pt x="5111496" y="57277"/>
                    <a:pt x="5111496" y="128016"/>
                  </a:cubicBezTo>
                  <a:lnTo>
                    <a:pt x="5111496" y="6089904"/>
                  </a:lnTo>
                  <a:cubicBezTo>
                    <a:pt x="5111496" y="6160643"/>
                    <a:pt x="5054219" y="6217920"/>
                    <a:pt x="4983480" y="6217920"/>
                  </a:cubicBezTo>
                  <a:lnTo>
                    <a:pt x="128016" y="6217920"/>
                  </a:lnTo>
                  <a:cubicBezTo>
                    <a:pt x="57277" y="6217920"/>
                    <a:pt x="0" y="6160643"/>
                    <a:pt x="0" y="6089904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2883" y="2537460"/>
            <a:ext cx="768096" cy="768096"/>
            <a:chOff x="0" y="0"/>
            <a:chExt cx="1024128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92883" y="253746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4440" y="3615690"/>
            <a:ext cx="328498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C9A24B"/>
                </a:solidFill>
                <a:latin typeface="Cambria Bold"/>
                <a:ea typeface="Cambria Bold"/>
                <a:cs typeface="Cambria Bold"/>
                <a:sym typeface="Cambria Bold"/>
              </a:rPr>
              <a:t>Pre-2000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4440" y="4587240"/>
            <a:ext cx="3284982" cy="309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E4E7EF"/>
                </a:solidFill>
                <a:latin typeface="Calibri (MS)"/>
                <a:ea typeface="Calibri (MS)"/>
                <a:cs typeface="Calibri (MS)"/>
                <a:sym typeface="Calibri (MS)"/>
              </a:rPr>
              <a:t>No Indian law validated electronic contracts, digital signatures, or addressed cybercrime. Traditional statutes were inadequate for digital-age disputes.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136642" y="3291840"/>
            <a:ext cx="3833622" cy="4663440"/>
            <a:chOff x="0" y="0"/>
            <a:chExt cx="5111496" cy="6217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1496" cy="6217920"/>
            </a:xfrm>
            <a:custGeom>
              <a:avLst/>
              <a:gdLst/>
              <a:ahLst/>
              <a:cxnLst/>
              <a:rect r="r" b="b" t="t" l="l"/>
              <a:pathLst>
                <a:path h="6217920" w="511149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83480" y="0"/>
                  </a:lnTo>
                  <a:cubicBezTo>
                    <a:pt x="5054219" y="0"/>
                    <a:pt x="5111496" y="57277"/>
                    <a:pt x="5111496" y="128016"/>
                  </a:cubicBezTo>
                  <a:lnTo>
                    <a:pt x="5111496" y="6089904"/>
                  </a:lnTo>
                  <a:cubicBezTo>
                    <a:pt x="5111496" y="6160643"/>
                    <a:pt x="5054219" y="6217920"/>
                    <a:pt x="4983480" y="6217920"/>
                  </a:cubicBezTo>
                  <a:lnTo>
                    <a:pt x="128016" y="6217920"/>
                  </a:lnTo>
                  <a:cubicBezTo>
                    <a:pt x="57277" y="6217920"/>
                    <a:pt x="0" y="6160643"/>
                    <a:pt x="0" y="608990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69405" y="2537460"/>
            <a:ext cx="768096" cy="768096"/>
            <a:chOff x="0" y="0"/>
            <a:chExt cx="1024128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669405" y="2537460"/>
            <a:ext cx="768096" cy="768096"/>
            <a:chOff x="0" y="0"/>
            <a:chExt cx="1024128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410962" y="3615690"/>
            <a:ext cx="328498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6213E"/>
                </a:solidFill>
                <a:latin typeface="Cambria Bold"/>
                <a:ea typeface="Cambria Bold"/>
                <a:cs typeface="Cambria Bold"/>
                <a:sym typeface="Cambria Bold"/>
              </a:rPr>
              <a:t>UNCITRAL Influence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10962" y="4587240"/>
            <a:ext cx="3284982" cy="309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The UN General Assembly's 1996 Model Law on E-Commerce recommended member nations adopt uniform legislation — India followed suit.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13164" y="3291840"/>
            <a:ext cx="3833622" cy="4663440"/>
            <a:chOff x="0" y="0"/>
            <a:chExt cx="5111496" cy="6217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11496" cy="6217920"/>
            </a:xfrm>
            <a:custGeom>
              <a:avLst/>
              <a:gdLst/>
              <a:ahLst/>
              <a:cxnLst/>
              <a:rect r="r" b="b" t="t" l="l"/>
              <a:pathLst>
                <a:path h="6217920" w="511149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83480" y="0"/>
                  </a:lnTo>
                  <a:cubicBezTo>
                    <a:pt x="5054219" y="0"/>
                    <a:pt x="5111496" y="57277"/>
                    <a:pt x="5111496" y="128016"/>
                  </a:cubicBezTo>
                  <a:lnTo>
                    <a:pt x="5111496" y="6089904"/>
                  </a:lnTo>
                  <a:cubicBezTo>
                    <a:pt x="5111496" y="6160643"/>
                    <a:pt x="5054219" y="6217920"/>
                    <a:pt x="4983480" y="6217920"/>
                  </a:cubicBezTo>
                  <a:lnTo>
                    <a:pt x="128016" y="6217920"/>
                  </a:lnTo>
                  <a:cubicBezTo>
                    <a:pt x="57277" y="6217920"/>
                    <a:pt x="0" y="6160643"/>
                    <a:pt x="0" y="6089904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845927" y="2537460"/>
            <a:ext cx="768096" cy="768096"/>
            <a:chOff x="0" y="0"/>
            <a:chExt cx="1024128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845927" y="2537460"/>
            <a:ext cx="768096" cy="768096"/>
            <a:chOff x="0" y="0"/>
            <a:chExt cx="1024128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587484" y="3615690"/>
            <a:ext cx="328498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C9A24B"/>
                </a:solidFill>
                <a:latin typeface="Cambria Bold"/>
                <a:ea typeface="Cambria Bold"/>
                <a:cs typeface="Cambria Bold"/>
                <a:sym typeface="Cambria Bold"/>
              </a:rPr>
              <a:t>The Gap Identified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87484" y="4587240"/>
            <a:ext cx="3284982" cy="309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E4E7EF"/>
                </a:solidFill>
                <a:latin typeface="Calibri (MS)"/>
                <a:ea typeface="Calibri (MS)"/>
                <a:cs typeface="Calibri (MS)"/>
                <a:sym typeface="Calibri (MS)"/>
              </a:rPr>
              <a:t>Rising internet adoption and e-commerce activity made legal recognition of digital transactions urgent and unavoidable.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489686" y="3291840"/>
            <a:ext cx="3833622" cy="4663440"/>
            <a:chOff x="0" y="0"/>
            <a:chExt cx="5111496" cy="6217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11496" cy="6217920"/>
            </a:xfrm>
            <a:custGeom>
              <a:avLst/>
              <a:gdLst/>
              <a:ahLst/>
              <a:cxnLst/>
              <a:rect r="r" b="b" t="t" l="l"/>
              <a:pathLst>
                <a:path h="6217920" w="511149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83480" y="0"/>
                  </a:lnTo>
                  <a:cubicBezTo>
                    <a:pt x="5054219" y="0"/>
                    <a:pt x="5111496" y="57277"/>
                    <a:pt x="5111496" y="128016"/>
                  </a:cubicBezTo>
                  <a:lnTo>
                    <a:pt x="5111496" y="6089904"/>
                  </a:lnTo>
                  <a:cubicBezTo>
                    <a:pt x="5111496" y="6160643"/>
                    <a:pt x="5054219" y="6217920"/>
                    <a:pt x="4983480" y="6217920"/>
                  </a:cubicBezTo>
                  <a:lnTo>
                    <a:pt x="128016" y="6217920"/>
                  </a:lnTo>
                  <a:cubicBezTo>
                    <a:pt x="57277" y="6217920"/>
                    <a:pt x="0" y="6160643"/>
                    <a:pt x="0" y="608990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022449" y="2537460"/>
            <a:ext cx="768096" cy="768096"/>
            <a:chOff x="0" y="0"/>
            <a:chExt cx="1024128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022449" y="2537460"/>
            <a:ext cx="768096" cy="768096"/>
            <a:chOff x="0" y="0"/>
            <a:chExt cx="1024128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764006" y="3615690"/>
            <a:ext cx="328498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6213E"/>
                </a:solidFill>
                <a:latin typeface="Cambria Bold"/>
                <a:ea typeface="Cambria Bold"/>
                <a:cs typeface="Cambria Bold"/>
                <a:sym typeface="Cambria Bold"/>
              </a:rPr>
              <a:t>2000: The Act Arrives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64006" y="4587240"/>
            <a:ext cx="3284982" cy="309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Parliament passed the IT Act, 2000, giving India its first comprehensive digital and cyber legal framework.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Objectives of the IT Act, 2000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667476"/>
            <a:ext cx="16651796" cy="1029272"/>
            <a:chOff x="0" y="0"/>
            <a:chExt cx="22202394" cy="13723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02394" cy="1372362"/>
            </a:xfrm>
            <a:custGeom>
              <a:avLst/>
              <a:gdLst/>
              <a:ahLst/>
              <a:cxnLst/>
              <a:rect r="r" b="b" t="t" l="l"/>
              <a:pathLst>
                <a:path h="1372362" w="22202394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2091142" y="0"/>
                  </a:lnTo>
                  <a:cubicBezTo>
                    <a:pt x="22152609" y="0"/>
                    <a:pt x="22202394" y="49784"/>
                    <a:pt x="22202394" y="111252"/>
                  </a:cubicBezTo>
                  <a:lnTo>
                    <a:pt x="22202394" y="1261110"/>
                  </a:lnTo>
                  <a:cubicBezTo>
                    <a:pt x="22202394" y="1322578"/>
                    <a:pt x="22152609" y="1372362"/>
                    <a:pt x="22091142" y="1372362"/>
                  </a:cubicBezTo>
                  <a:lnTo>
                    <a:pt x="111252" y="1372362"/>
                  </a:lnTo>
                  <a:cubicBezTo>
                    <a:pt x="49784" y="1372362"/>
                    <a:pt x="0" y="1322578"/>
                    <a:pt x="0" y="1261110"/>
                  </a:cubicBezTo>
                  <a:close/>
                </a:path>
              </a:pathLst>
            </a:custGeom>
            <a:solidFill>
              <a:srgbClr val="F4F1EA"/>
            </a:solidFill>
            <a:ln w="14288" cap="sq">
              <a:solidFill>
                <a:srgbClr val="E4E0D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24712" y="2839212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3017520"/>
            <a:ext cx="329184" cy="329184"/>
            <a:chOff x="0" y="0"/>
            <a:chExt cx="438912" cy="4389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25980" y="2674620"/>
            <a:ext cx="14950440" cy="1014984"/>
            <a:chOff x="0" y="0"/>
            <a:chExt cx="19933920" cy="13533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339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09" r="0" b="-2370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9339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Legal recognition of electronic records and digital signatures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3929348"/>
            <a:ext cx="16651796" cy="1029272"/>
            <a:chOff x="0" y="0"/>
            <a:chExt cx="22202394" cy="13723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02394" cy="1372362"/>
            </a:xfrm>
            <a:custGeom>
              <a:avLst/>
              <a:gdLst/>
              <a:ahLst/>
              <a:cxnLst/>
              <a:rect r="r" b="b" t="t" l="l"/>
              <a:pathLst>
                <a:path h="1372362" w="22202394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2091142" y="0"/>
                  </a:lnTo>
                  <a:cubicBezTo>
                    <a:pt x="22152609" y="0"/>
                    <a:pt x="22202394" y="49784"/>
                    <a:pt x="22202394" y="111252"/>
                  </a:cubicBezTo>
                  <a:lnTo>
                    <a:pt x="22202394" y="1261110"/>
                  </a:lnTo>
                  <a:cubicBezTo>
                    <a:pt x="22202394" y="1322578"/>
                    <a:pt x="22152609" y="1372362"/>
                    <a:pt x="22091142" y="1372362"/>
                  </a:cubicBezTo>
                  <a:lnTo>
                    <a:pt x="111252" y="1372362"/>
                  </a:lnTo>
                  <a:cubicBezTo>
                    <a:pt x="49784" y="1372362"/>
                    <a:pt x="0" y="1322578"/>
                    <a:pt x="0" y="12611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0D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4712" y="4101084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3020" y="4279392"/>
            <a:ext cx="329184" cy="329184"/>
            <a:chOff x="0" y="0"/>
            <a:chExt cx="438912" cy="43891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25980" y="3936492"/>
            <a:ext cx="14950440" cy="1014984"/>
            <a:chOff x="0" y="0"/>
            <a:chExt cx="19933920" cy="13533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339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09" r="0" b="-2370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99339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Facilitate e-governance and electronic filing of documents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5816" y="5191220"/>
            <a:ext cx="16651796" cy="1029272"/>
            <a:chOff x="0" y="0"/>
            <a:chExt cx="22202394" cy="13723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02394" cy="1372362"/>
            </a:xfrm>
            <a:custGeom>
              <a:avLst/>
              <a:gdLst/>
              <a:ahLst/>
              <a:cxnLst/>
              <a:rect r="r" b="b" t="t" l="l"/>
              <a:pathLst>
                <a:path h="1372362" w="22202394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2091142" y="0"/>
                  </a:lnTo>
                  <a:cubicBezTo>
                    <a:pt x="22152609" y="0"/>
                    <a:pt x="22202394" y="49784"/>
                    <a:pt x="22202394" y="111252"/>
                  </a:cubicBezTo>
                  <a:lnTo>
                    <a:pt x="22202394" y="1261110"/>
                  </a:lnTo>
                  <a:cubicBezTo>
                    <a:pt x="22202394" y="1322578"/>
                    <a:pt x="22152609" y="1372362"/>
                    <a:pt x="22091142" y="1372362"/>
                  </a:cubicBezTo>
                  <a:lnTo>
                    <a:pt x="111252" y="1372362"/>
                  </a:lnTo>
                  <a:cubicBezTo>
                    <a:pt x="49784" y="1372362"/>
                    <a:pt x="0" y="1322578"/>
                    <a:pt x="0" y="1261110"/>
                  </a:cubicBezTo>
                  <a:close/>
                </a:path>
              </a:pathLst>
            </a:custGeom>
            <a:solidFill>
              <a:srgbClr val="F4F1EA"/>
            </a:solidFill>
            <a:ln w="14288" cap="sq">
              <a:solidFill>
                <a:srgbClr val="E4E0D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24712" y="5362956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03020" y="5541264"/>
            <a:ext cx="329184" cy="329184"/>
            <a:chOff x="0" y="0"/>
            <a:chExt cx="438912" cy="438912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25980" y="5198364"/>
            <a:ext cx="14950440" cy="1014984"/>
            <a:chOff x="0" y="0"/>
            <a:chExt cx="19933920" cy="13533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9339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09" r="0" b="-23700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99339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Promote and regulate e-commerce and online transactions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5816" y="6453092"/>
            <a:ext cx="16651796" cy="1029272"/>
            <a:chOff x="0" y="0"/>
            <a:chExt cx="22202394" cy="13723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202394" cy="1372362"/>
            </a:xfrm>
            <a:custGeom>
              <a:avLst/>
              <a:gdLst/>
              <a:ahLst/>
              <a:cxnLst/>
              <a:rect r="r" b="b" t="t" l="l"/>
              <a:pathLst>
                <a:path h="1372362" w="22202394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2091142" y="0"/>
                  </a:lnTo>
                  <a:cubicBezTo>
                    <a:pt x="22152609" y="0"/>
                    <a:pt x="22202394" y="49784"/>
                    <a:pt x="22202394" y="111252"/>
                  </a:cubicBezTo>
                  <a:lnTo>
                    <a:pt x="22202394" y="1261110"/>
                  </a:lnTo>
                  <a:cubicBezTo>
                    <a:pt x="22202394" y="1322578"/>
                    <a:pt x="22152609" y="1372362"/>
                    <a:pt x="22091142" y="1372362"/>
                  </a:cubicBezTo>
                  <a:lnTo>
                    <a:pt x="111252" y="1372362"/>
                  </a:lnTo>
                  <a:cubicBezTo>
                    <a:pt x="49784" y="1372362"/>
                    <a:pt x="0" y="1322578"/>
                    <a:pt x="0" y="12611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4E0D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24712" y="6624828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03020" y="6803136"/>
            <a:ext cx="329184" cy="329184"/>
            <a:chOff x="0" y="0"/>
            <a:chExt cx="438912" cy="43891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125980" y="6460236"/>
            <a:ext cx="14950440" cy="1014984"/>
            <a:chOff x="0" y="0"/>
            <a:chExt cx="19933920" cy="13533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9339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09" r="0" b="-23700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99339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Prevent and penalise cybercrime and unauthorised access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5816" y="7714964"/>
            <a:ext cx="16651796" cy="1029272"/>
            <a:chOff x="0" y="0"/>
            <a:chExt cx="22202394" cy="137236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202394" cy="1372362"/>
            </a:xfrm>
            <a:custGeom>
              <a:avLst/>
              <a:gdLst/>
              <a:ahLst/>
              <a:cxnLst/>
              <a:rect r="r" b="b" t="t" l="l"/>
              <a:pathLst>
                <a:path h="1372362" w="22202394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2091142" y="0"/>
                  </a:lnTo>
                  <a:cubicBezTo>
                    <a:pt x="22152609" y="0"/>
                    <a:pt x="22202394" y="49784"/>
                    <a:pt x="22202394" y="111252"/>
                  </a:cubicBezTo>
                  <a:lnTo>
                    <a:pt x="22202394" y="1261110"/>
                  </a:lnTo>
                  <a:cubicBezTo>
                    <a:pt x="22202394" y="1322578"/>
                    <a:pt x="22152609" y="1372362"/>
                    <a:pt x="22091142" y="1372362"/>
                  </a:cubicBezTo>
                  <a:lnTo>
                    <a:pt x="111252" y="1372362"/>
                  </a:lnTo>
                  <a:cubicBezTo>
                    <a:pt x="49784" y="1372362"/>
                    <a:pt x="0" y="1322578"/>
                    <a:pt x="0" y="1261110"/>
                  </a:cubicBezTo>
                  <a:close/>
                </a:path>
              </a:pathLst>
            </a:custGeom>
            <a:solidFill>
              <a:srgbClr val="F4F1EA"/>
            </a:solidFill>
            <a:ln w="14288" cap="sq">
              <a:solidFill>
                <a:srgbClr val="E4E0D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24712" y="7886700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03020" y="8065008"/>
            <a:ext cx="329184" cy="329184"/>
            <a:chOff x="0" y="0"/>
            <a:chExt cx="438912" cy="438912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125980" y="7722108"/>
            <a:ext cx="14950440" cy="1014984"/>
            <a:chOff x="0" y="0"/>
            <a:chExt cx="19933920" cy="13533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9339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09" r="0" b="-23700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99339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Establish regulatory bodies — Certifying Authorities, Cyber Appellate Tribunal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KEY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Features of the 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5271516" cy="3120390"/>
            <a:chOff x="0" y="0"/>
            <a:chExt cx="7028688" cy="4160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8688" cy="4160520"/>
            </a:xfrm>
            <a:custGeom>
              <a:avLst/>
              <a:gdLst/>
              <a:ahLst/>
              <a:cxnLst/>
              <a:rect r="r" b="b" t="t" l="l"/>
              <a:pathLst>
                <a:path h="4160520" w="70286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82385" y="0"/>
                  </a:lnTo>
                  <a:cubicBezTo>
                    <a:pt x="6963156" y="0"/>
                    <a:pt x="7028688" y="65532"/>
                    <a:pt x="7028688" y="146304"/>
                  </a:cubicBezTo>
                  <a:lnTo>
                    <a:pt x="7028688" y="4014216"/>
                  </a:lnTo>
                  <a:cubicBezTo>
                    <a:pt x="7028688" y="4094988"/>
                    <a:pt x="6963156" y="4160520"/>
                    <a:pt x="6882385" y="4160520"/>
                  </a:cubicBezTo>
                  <a:lnTo>
                    <a:pt x="146304" y="4160520"/>
                  </a:lnTo>
                  <a:cubicBezTo>
                    <a:pt x="65532" y="4160520"/>
                    <a:pt x="0" y="4094988"/>
                    <a:pt x="0" y="401421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05956" y="2743200"/>
            <a:ext cx="5271516" cy="3120390"/>
            <a:chOff x="0" y="0"/>
            <a:chExt cx="7028688" cy="4160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28688" cy="4160520"/>
            </a:xfrm>
            <a:custGeom>
              <a:avLst/>
              <a:gdLst/>
              <a:ahLst/>
              <a:cxnLst/>
              <a:rect r="r" b="b" t="t" l="l"/>
              <a:pathLst>
                <a:path h="4160520" w="70286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82385" y="0"/>
                  </a:lnTo>
                  <a:cubicBezTo>
                    <a:pt x="6963156" y="0"/>
                    <a:pt x="7028688" y="65532"/>
                    <a:pt x="7028688" y="146304"/>
                  </a:cubicBezTo>
                  <a:lnTo>
                    <a:pt x="7028688" y="4014216"/>
                  </a:lnTo>
                  <a:cubicBezTo>
                    <a:pt x="7028688" y="4094988"/>
                    <a:pt x="6963156" y="4160520"/>
                    <a:pt x="6882385" y="4160520"/>
                  </a:cubicBezTo>
                  <a:lnTo>
                    <a:pt x="146304" y="4160520"/>
                  </a:lnTo>
                  <a:cubicBezTo>
                    <a:pt x="65532" y="4160520"/>
                    <a:pt x="0" y="4094988"/>
                    <a:pt x="0" y="401421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88952" y="2743200"/>
            <a:ext cx="5271516" cy="3120390"/>
            <a:chOff x="0" y="0"/>
            <a:chExt cx="7028688" cy="4160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8688" cy="4160520"/>
            </a:xfrm>
            <a:custGeom>
              <a:avLst/>
              <a:gdLst/>
              <a:ahLst/>
              <a:cxnLst/>
              <a:rect r="r" b="b" t="t" l="l"/>
              <a:pathLst>
                <a:path h="4160520" w="70286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82385" y="0"/>
                  </a:lnTo>
                  <a:cubicBezTo>
                    <a:pt x="6963156" y="0"/>
                    <a:pt x="7028688" y="65532"/>
                    <a:pt x="7028688" y="146304"/>
                  </a:cubicBezTo>
                  <a:lnTo>
                    <a:pt x="7028688" y="4014216"/>
                  </a:lnTo>
                  <a:cubicBezTo>
                    <a:pt x="7028688" y="4094988"/>
                    <a:pt x="6963156" y="4160520"/>
                    <a:pt x="6882385" y="4160520"/>
                  </a:cubicBezTo>
                  <a:lnTo>
                    <a:pt x="146304" y="4160520"/>
                  </a:lnTo>
                  <a:cubicBezTo>
                    <a:pt x="65532" y="4160520"/>
                    <a:pt x="0" y="4094988"/>
                    <a:pt x="0" y="401421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6275070"/>
            <a:ext cx="5271516" cy="3120390"/>
            <a:chOff x="0" y="0"/>
            <a:chExt cx="7028688" cy="4160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8688" cy="4160520"/>
            </a:xfrm>
            <a:custGeom>
              <a:avLst/>
              <a:gdLst/>
              <a:ahLst/>
              <a:cxnLst/>
              <a:rect r="r" b="b" t="t" l="l"/>
              <a:pathLst>
                <a:path h="4160520" w="70286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82385" y="0"/>
                  </a:lnTo>
                  <a:cubicBezTo>
                    <a:pt x="6963156" y="0"/>
                    <a:pt x="7028688" y="65532"/>
                    <a:pt x="7028688" y="146304"/>
                  </a:cubicBezTo>
                  <a:lnTo>
                    <a:pt x="7028688" y="4014216"/>
                  </a:lnTo>
                  <a:cubicBezTo>
                    <a:pt x="7028688" y="4094988"/>
                    <a:pt x="6963156" y="4160520"/>
                    <a:pt x="6882385" y="4160520"/>
                  </a:cubicBezTo>
                  <a:lnTo>
                    <a:pt x="146304" y="4160520"/>
                  </a:lnTo>
                  <a:cubicBezTo>
                    <a:pt x="65532" y="4160520"/>
                    <a:pt x="0" y="4094988"/>
                    <a:pt x="0" y="401421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05956" y="6275070"/>
            <a:ext cx="5271516" cy="3120390"/>
            <a:chOff x="0" y="0"/>
            <a:chExt cx="7028688" cy="4160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28688" cy="4160520"/>
            </a:xfrm>
            <a:custGeom>
              <a:avLst/>
              <a:gdLst/>
              <a:ahLst/>
              <a:cxnLst/>
              <a:rect r="r" b="b" t="t" l="l"/>
              <a:pathLst>
                <a:path h="4160520" w="70286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82385" y="0"/>
                  </a:lnTo>
                  <a:cubicBezTo>
                    <a:pt x="6963156" y="0"/>
                    <a:pt x="7028688" y="65532"/>
                    <a:pt x="7028688" y="146304"/>
                  </a:cubicBezTo>
                  <a:lnTo>
                    <a:pt x="7028688" y="4014216"/>
                  </a:lnTo>
                  <a:cubicBezTo>
                    <a:pt x="7028688" y="4094988"/>
                    <a:pt x="6963156" y="4160520"/>
                    <a:pt x="6882385" y="4160520"/>
                  </a:cubicBezTo>
                  <a:lnTo>
                    <a:pt x="146304" y="4160520"/>
                  </a:lnTo>
                  <a:cubicBezTo>
                    <a:pt x="65532" y="4160520"/>
                    <a:pt x="0" y="4094988"/>
                    <a:pt x="0" y="401421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88952" y="6275070"/>
            <a:ext cx="5271516" cy="3120390"/>
            <a:chOff x="0" y="0"/>
            <a:chExt cx="7028688" cy="4160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8688" cy="4160520"/>
            </a:xfrm>
            <a:custGeom>
              <a:avLst/>
              <a:gdLst/>
              <a:ahLst/>
              <a:cxnLst/>
              <a:rect r="r" b="b" t="t" l="l"/>
              <a:pathLst>
                <a:path h="4160520" w="70286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82385" y="0"/>
                  </a:lnTo>
                  <a:cubicBezTo>
                    <a:pt x="6963156" y="0"/>
                    <a:pt x="7028688" y="65532"/>
                    <a:pt x="7028688" y="146304"/>
                  </a:cubicBezTo>
                  <a:lnTo>
                    <a:pt x="7028688" y="4014216"/>
                  </a:lnTo>
                  <a:cubicBezTo>
                    <a:pt x="7028688" y="4094988"/>
                    <a:pt x="6963156" y="4160520"/>
                    <a:pt x="6882385" y="4160520"/>
                  </a:cubicBezTo>
                  <a:lnTo>
                    <a:pt x="146304" y="4160520"/>
                  </a:lnTo>
                  <a:cubicBezTo>
                    <a:pt x="65532" y="4160520"/>
                    <a:pt x="0" y="4094988"/>
                    <a:pt x="0" y="401421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008" y="3099816"/>
            <a:ext cx="576072" cy="576072"/>
            <a:chOff x="0" y="0"/>
            <a:chExt cx="768096" cy="768096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008" y="3813048"/>
            <a:ext cx="4517136" cy="548640"/>
            <a:chOff x="0" y="0"/>
            <a:chExt cx="6022848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22848" cy="731520"/>
            </a:xfrm>
            <a:custGeom>
              <a:avLst/>
              <a:gdLst/>
              <a:ahLst/>
              <a:cxnLst/>
              <a:rect r="r" b="b" t="t" l="l"/>
              <a:pathLst>
                <a:path h="731520" w="6022848">
                  <a:moveTo>
                    <a:pt x="0" y="0"/>
                  </a:moveTo>
                  <a:lnTo>
                    <a:pt x="6022848" y="0"/>
                  </a:lnTo>
                  <a:lnTo>
                    <a:pt x="6022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2284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Legal Validity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07008" y="4304538"/>
            <a:ext cx="4517136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Electronic records carry the same legal weight as paper documents.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90004" y="3099816"/>
            <a:ext cx="576072" cy="576072"/>
            <a:chOff x="0" y="0"/>
            <a:chExt cx="768096" cy="76809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90004" y="3813048"/>
            <a:ext cx="4517136" cy="548640"/>
            <a:chOff x="0" y="0"/>
            <a:chExt cx="6022848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22848" cy="731520"/>
            </a:xfrm>
            <a:custGeom>
              <a:avLst/>
              <a:gdLst/>
              <a:ahLst/>
              <a:cxnLst/>
              <a:rect r="r" b="b" t="t" l="l"/>
              <a:pathLst>
                <a:path h="731520" w="6022848">
                  <a:moveTo>
                    <a:pt x="0" y="0"/>
                  </a:moveTo>
                  <a:lnTo>
                    <a:pt x="6022848" y="0"/>
                  </a:lnTo>
                  <a:lnTo>
                    <a:pt x="6022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02284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Digital Signatures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890004" y="4304538"/>
            <a:ext cx="4517136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Recognised as valid means of authenticating electronic documents.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573000" y="3099816"/>
            <a:ext cx="576072" cy="576072"/>
            <a:chOff x="0" y="0"/>
            <a:chExt cx="768096" cy="768096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73000" y="3813048"/>
            <a:ext cx="4517136" cy="548640"/>
            <a:chOff x="0" y="0"/>
            <a:chExt cx="6022848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2848" cy="731520"/>
            </a:xfrm>
            <a:custGeom>
              <a:avLst/>
              <a:gdLst/>
              <a:ahLst/>
              <a:cxnLst/>
              <a:rect r="r" b="b" t="t" l="l"/>
              <a:pathLst>
                <a:path h="731520" w="6022848">
                  <a:moveTo>
                    <a:pt x="0" y="0"/>
                  </a:moveTo>
                  <a:lnTo>
                    <a:pt x="6022848" y="0"/>
                  </a:lnTo>
                  <a:lnTo>
                    <a:pt x="6022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02284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Cyber Appellate Tribunal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73000" y="4304538"/>
            <a:ext cx="4517136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Set up to hear appeals against orders of Adjudicating Officers.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07008" y="6631686"/>
            <a:ext cx="576072" cy="576072"/>
            <a:chOff x="0" y="0"/>
            <a:chExt cx="768096" cy="768096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008" y="7344918"/>
            <a:ext cx="4517136" cy="548640"/>
            <a:chOff x="0" y="0"/>
            <a:chExt cx="6022848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22848" cy="731520"/>
            </a:xfrm>
            <a:custGeom>
              <a:avLst/>
              <a:gdLst/>
              <a:ahLst/>
              <a:cxnLst/>
              <a:rect r="r" b="b" t="t" l="l"/>
              <a:pathLst>
                <a:path h="731520" w="6022848">
                  <a:moveTo>
                    <a:pt x="0" y="0"/>
                  </a:moveTo>
                  <a:lnTo>
                    <a:pt x="6022848" y="0"/>
                  </a:lnTo>
                  <a:lnTo>
                    <a:pt x="6022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02284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Protection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07008" y="7836408"/>
            <a:ext cx="4517136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Provisions to secure personal and sensitive information online.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890004" y="6631686"/>
            <a:ext cx="576072" cy="576072"/>
            <a:chOff x="0" y="0"/>
            <a:chExt cx="768096" cy="768096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890004" y="7344918"/>
            <a:ext cx="4517136" cy="548640"/>
            <a:chOff x="0" y="0"/>
            <a:chExt cx="6022848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22848" cy="731520"/>
            </a:xfrm>
            <a:custGeom>
              <a:avLst/>
              <a:gdLst/>
              <a:ahLst/>
              <a:cxnLst/>
              <a:rect r="r" b="b" t="t" l="l"/>
              <a:pathLst>
                <a:path h="731520" w="6022848">
                  <a:moveTo>
                    <a:pt x="0" y="0"/>
                  </a:moveTo>
                  <a:lnTo>
                    <a:pt x="6022848" y="0"/>
                  </a:lnTo>
                  <a:lnTo>
                    <a:pt x="6022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02284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Penalties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890004" y="7836408"/>
            <a:ext cx="4517136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Defined punishments — fines and imprisonment — for cyber offences.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573000" y="6631686"/>
            <a:ext cx="576072" cy="576072"/>
            <a:chOff x="0" y="0"/>
            <a:chExt cx="768096" cy="768096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3000" y="7344918"/>
            <a:ext cx="4517136" cy="548640"/>
            <a:chOff x="0" y="0"/>
            <a:chExt cx="6022848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22848" cy="731520"/>
            </a:xfrm>
            <a:custGeom>
              <a:avLst/>
              <a:gdLst/>
              <a:ahLst/>
              <a:cxnLst/>
              <a:rect r="r" b="b" t="t" l="l"/>
              <a:pathLst>
                <a:path h="731520" w="6022848">
                  <a:moveTo>
                    <a:pt x="0" y="0"/>
                  </a:moveTo>
                  <a:lnTo>
                    <a:pt x="6022848" y="0"/>
                  </a:lnTo>
                  <a:lnTo>
                    <a:pt x="6022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602284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Certifying Authorities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573000" y="7836408"/>
            <a:ext cx="4517136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Licensed bodies that issue and regulate digital signature certificates.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DEFINITIONS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Important Definitions (Section 2)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8023860" cy="1371600"/>
            <a:chOff x="0" y="0"/>
            <a:chExt cx="1069848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984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570464" y="0"/>
                  </a:lnTo>
                  <a:cubicBezTo>
                    <a:pt x="10641203" y="0"/>
                    <a:pt x="10698480" y="57277"/>
                    <a:pt x="10698480" y="128016"/>
                  </a:cubicBezTo>
                  <a:lnTo>
                    <a:pt x="10698480" y="1700784"/>
                  </a:lnTo>
                  <a:cubicBezTo>
                    <a:pt x="10698480" y="1771523"/>
                    <a:pt x="10641203" y="1828800"/>
                    <a:pt x="1057046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811780"/>
            <a:ext cx="7338060" cy="480060"/>
            <a:chOff x="0" y="0"/>
            <a:chExt cx="978408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784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9C7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Computer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65860" y="3225165"/>
            <a:ext cx="73380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Any electronic device that performs logical, arithmetic, and memory functions using data.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64040" y="2674620"/>
            <a:ext cx="8023860" cy="1371600"/>
            <a:chOff x="0" y="0"/>
            <a:chExt cx="1069848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9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984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570464" y="0"/>
                  </a:lnTo>
                  <a:cubicBezTo>
                    <a:pt x="10641203" y="0"/>
                    <a:pt x="10698480" y="57277"/>
                    <a:pt x="10698480" y="128016"/>
                  </a:cubicBezTo>
                  <a:lnTo>
                    <a:pt x="10698480" y="1700784"/>
                  </a:lnTo>
                  <a:cubicBezTo>
                    <a:pt x="10698480" y="1771523"/>
                    <a:pt x="10641203" y="1828800"/>
                    <a:pt x="1057046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06940" y="2811780"/>
            <a:ext cx="7338060" cy="480060"/>
            <a:chOff x="0" y="0"/>
            <a:chExt cx="97840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9784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9C7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Computer Network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06940" y="3225165"/>
            <a:ext cx="73380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Interconnected computers using communication links to share resources or data.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4293108"/>
            <a:ext cx="8023860" cy="1371600"/>
            <a:chOff x="0" y="0"/>
            <a:chExt cx="1069848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984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570464" y="0"/>
                  </a:lnTo>
                  <a:cubicBezTo>
                    <a:pt x="10641203" y="0"/>
                    <a:pt x="10698480" y="57277"/>
                    <a:pt x="10698480" y="128016"/>
                  </a:cubicBezTo>
                  <a:lnTo>
                    <a:pt x="10698480" y="1700784"/>
                  </a:lnTo>
                  <a:cubicBezTo>
                    <a:pt x="10698480" y="1771523"/>
                    <a:pt x="10641203" y="1828800"/>
                    <a:pt x="1057046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4430268"/>
            <a:ext cx="7338060" cy="480060"/>
            <a:chOff x="0" y="0"/>
            <a:chExt cx="978408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784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9C7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65860" y="4843653"/>
            <a:ext cx="73380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Representations of information, facts, or concepts in any form, including computer-readable form.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64040" y="4293108"/>
            <a:ext cx="8023860" cy="1371600"/>
            <a:chOff x="0" y="0"/>
            <a:chExt cx="1069848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9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984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570464" y="0"/>
                  </a:lnTo>
                  <a:cubicBezTo>
                    <a:pt x="10641203" y="0"/>
                    <a:pt x="10698480" y="57277"/>
                    <a:pt x="10698480" y="128016"/>
                  </a:cubicBezTo>
                  <a:lnTo>
                    <a:pt x="10698480" y="1700784"/>
                  </a:lnTo>
                  <a:cubicBezTo>
                    <a:pt x="10698480" y="1771523"/>
                    <a:pt x="10641203" y="1828800"/>
                    <a:pt x="1057046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06940" y="4430268"/>
            <a:ext cx="7338060" cy="480060"/>
            <a:chOff x="0" y="0"/>
            <a:chExt cx="978408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784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9C7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Electronic Record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806940" y="4843653"/>
            <a:ext cx="73380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Data, record, image, or sound generated, stored, or sent in an electronic form.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5911596"/>
            <a:ext cx="8023860" cy="1371600"/>
            <a:chOff x="0" y="0"/>
            <a:chExt cx="1069848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984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570464" y="0"/>
                  </a:lnTo>
                  <a:cubicBezTo>
                    <a:pt x="10641203" y="0"/>
                    <a:pt x="10698480" y="57277"/>
                    <a:pt x="10698480" y="128016"/>
                  </a:cubicBezTo>
                  <a:lnTo>
                    <a:pt x="10698480" y="1700784"/>
                  </a:lnTo>
                  <a:cubicBezTo>
                    <a:pt x="10698480" y="1771523"/>
                    <a:pt x="10641203" y="1828800"/>
                    <a:pt x="1057046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6048756"/>
            <a:ext cx="7338060" cy="480060"/>
            <a:chOff x="0" y="0"/>
            <a:chExt cx="97840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784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9C7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Digital Signature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65860" y="6462141"/>
            <a:ext cx="73380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An authentication method using an asymmetric crypto-system to verify electronic records.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DIGITAL SIGNATURES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Digital Signatures &amp; Electronic Records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7041" y="2537460"/>
            <a:ext cx="3703320" cy="2125980"/>
            <a:chOff x="0" y="0"/>
            <a:chExt cx="4937760" cy="283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37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2651760"/>
                  </a:lnTo>
                  <a:cubicBezTo>
                    <a:pt x="4937760" y="2752725"/>
                    <a:pt x="4855845" y="2834640"/>
                    <a:pt x="475488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66949" y="2784348"/>
            <a:ext cx="603504" cy="603504"/>
            <a:chOff x="0" y="0"/>
            <a:chExt cx="804672" cy="80467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7041" y="3470148"/>
            <a:ext cx="3703320" cy="438912"/>
            <a:chOff x="0" y="0"/>
            <a:chExt cx="493776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37760" cy="585216"/>
            </a:xfrm>
            <a:custGeom>
              <a:avLst/>
              <a:gdLst/>
              <a:ahLst/>
              <a:cxnLst/>
              <a:rect r="r" b="b" t="t" l="l"/>
              <a:pathLst>
                <a:path h="58521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937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Sender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81633" y="3870960"/>
            <a:ext cx="337413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Creates electronic document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20361" y="3257550"/>
            <a:ext cx="480060" cy="685800"/>
            <a:chOff x="0" y="0"/>
            <a:chExt cx="6400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08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0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0421" y="2537460"/>
            <a:ext cx="3703320" cy="2125980"/>
            <a:chOff x="0" y="0"/>
            <a:chExt cx="4937760" cy="2834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2651760"/>
                  </a:lnTo>
                  <a:cubicBezTo>
                    <a:pt x="4937760" y="2752725"/>
                    <a:pt x="4855845" y="2834640"/>
                    <a:pt x="475488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3A4A6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50329" y="2784348"/>
            <a:ext cx="603504" cy="603504"/>
            <a:chOff x="0" y="0"/>
            <a:chExt cx="804672" cy="80467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200421" y="3470148"/>
            <a:ext cx="3703320" cy="438912"/>
            <a:chOff x="0" y="0"/>
            <a:chExt cx="4937760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7760" cy="585216"/>
            </a:xfrm>
            <a:custGeom>
              <a:avLst/>
              <a:gdLst/>
              <a:ahLst/>
              <a:cxnLst/>
              <a:rect r="r" b="b" t="t" l="l"/>
              <a:pathLst>
                <a:path h="58521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937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Hash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65013" y="3870960"/>
            <a:ext cx="337413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 hashed to digest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903741" y="3257550"/>
            <a:ext cx="480060" cy="685800"/>
            <a:chOff x="0" y="0"/>
            <a:chExt cx="64008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40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83801" y="2537460"/>
            <a:ext cx="3703320" cy="2125980"/>
            <a:chOff x="0" y="0"/>
            <a:chExt cx="4937760" cy="283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37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2651760"/>
                  </a:lnTo>
                  <a:cubicBezTo>
                    <a:pt x="4937760" y="2752725"/>
                    <a:pt x="4855845" y="2834640"/>
                    <a:pt x="475488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33709" y="2784348"/>
            <a:ext cx="603504" cy="603504"/>
            <a:chOff x="0" y="0"/>
            <a:chExt cx="804672" cy="80467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83801" y="3470148"/>
            <a:ext cx="3703320" cy="438912"/>
            <a:chOff x="0" y="0"/>
            <a:chExt cx="493776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0" cy="585216"/>
            </a:xfrm>
            <a:custGeom>
              <a:avLst/>
              <a:gdLst/>
              <a:ahLst/>
              <a:cxnLst/>
              <a:rect r="r" b="b" t="t" l="l"/>
              <a:pathLst>
                <a:path h="58521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937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Sign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48393" y="3870960"/>
            <a:ext cx="337413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Digest encrypted with private key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087121" y="3257550"/>
            <a:ext cx="480060" cy="685800"/>
            <a:chOff x="0" y="0"/>
            <a:chExt cx="64008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008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40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567181" y="2537460"/>
            <a:ext cx="3703320" cy="2125980"/>
            <a:chOff x="0" y="0"/>
            <a:chExt cx="4937760" cy="2834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37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2651760"/>
                  </a:lnTo>
                  <a:cubicBezTo>
                    <a:pt x="4937760" y="2752725"/>
                    <a:pt x="4855845" y="2834640"/>
                    <a:pt x="475488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3A4A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117089" y="2784348"/>
            <a:ext cx="603504" cy="603504"/>
            <a:chOff x="0" y="0"/>
            <a:chExt cx="804672" cy="804672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567181" y="3470148"/>
            <a:ext cx="3703320" cy="438912"/>
            <a:chOff x="0" y="0"/>
            <a:chExt cx="493776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37760" cy="585216"/>
            </a:xfrm>
            <a:custGeom>
              <a:avLst/>
              <a:gdLst/>
              <a:ahLst/>
              <a:cxnLst/>
              <a:rect r="r" b="b" t="t" l="l"/>
              <a:pathLst>
                <a:path h="58521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937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Verify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731773" y="3870960"/>
            <a:ext cx="337413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Receiver confirms with public key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22960" y="5074920"/>
            <a:ext cx="8161020" cy="2948940"/>
            <a:chOff x="0" y="0"/>
            <a:chExt cx="10881360" cy="39319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813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3" r="0" b="-392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10881360" cy="4027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Act gives legal validity to electronic records and digital signatures, making online contracts and digitally signed documents enforceable in court.</a:t>
              </a:r>
            </a:p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Certifying Authorities (CAs) are licensed to issue Digital Signature Certificates (DSCs).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95460" y="5074920"/>
            <a:ext cx="8065008" cy="2948940"/>
            <a:chOff x="0" y="0"/>
            <a:chExt cx="10753344" cy="3931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53344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75334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07040" y="0"/>
                  </a:lnTo>
                  <a:cubicBezTo>
                    <a:pt x="10687812" y="0"/>
                    <a:pt x="10753344" y="65532"/>
                    <a:pt x="10753344" y="146304"/>
                  </a:cubicBezTo>
                  <a:lnTo>
                    <a:pt x="10753344" y="3785616"/>
                  </a:lnTo>
                  <a:cubicBezTo>
                    <a:pt x="10753344" y="3866388"/>
                    <a:pt x="10687812" y="3931920"/>
                    <a:pt x="10607040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06940" y="5074920"/>
            <a:ext cx="7242048" cy="2948940"/>
            <a:chOff x="0" y="0"/>
            <a:chExt cx="9656064" cy="3931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560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9656064">
                  <a:moveTo>
                    <a:pt x="0" y="0"/>
                  </a:moveTo>
                  <a:lnTo>
                    <a:pt x="9656064" y="0"/>
                  </a:lnTo>
                  <a:lnTo>
                    <a:pt x="9656064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4" t="0" r="-224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9656064" cy="4027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2"/>
                </a:lnSpc>
              </a:pPr>
              <a:r>
                <a:rPr lang="en-US" sz="1875" i="true">
                  <a:solidFill>
                    <a:srgbClr val="3A4A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Asymmetric cryptography ensures the document's integrity and the signer's authenticity — any tampering after signing invalidates the signature.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2331720" cy="1371600"/>
            <a:chOff x="0" y="0"/>
            <a:chExt cx="310896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682496"/>
                  </a:lnTo>
                  <a:cubicBezTo>
                    <a:pt x="3108960" y="1763268"/>
                    <a:pt x="3043428" y="1828800"/>
                    <a:pt x="296265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-284747"/>
            <a:ext cx="2331720" cy="3449855"/>
            <a:chOff x="0" y="0"/>
            <a:chExt cx="3108960" cy="4599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4599806"/>
            </a:xfrm>
            <a:custGeom>
              <a:avLst/>
              <a:gdLst/>
              <a:ahLst/>
              <a:cxnLst/>
              <a:rect r="r" b="b" t="t" l="l"/>
              <a:pathLst>
                <a:path h="459980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99806"/>
                  </a:lnTo>
                  <a:lnTo>
                    <a:pt x="0" y="4599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60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108960" cy="4599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Section 43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29000" y="822960"/>
            <a:ext cx="13441680" cy="1234440"/>
            <a:chOff x="0" y="0"/>
            <a:chExt cx="1792224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Unauthorized Access and Damage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400300"/>
            <a:ext cx="16637508" cy="27432"/>
            <a:chOff x="0" y="0"/>
            <a:chExt cx="22183344" cy="3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36576"/>
            </a:xfrm>
            <a:custGeom>
              <a:avLst/>
              <a:gdLst/>
              <a:ahLst/>
              <a:cxnLst/>
              <a:rect r="r" b="b" t="t" l="l"/>
              <a:pathLst>
                <a:path h="3657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0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3031236"/>
            <a:ext cx="576072" cy="576072"/>
            <a:chOff x="0" y="0"/>
            <a:chExt cx="768096" cy="7680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3031236"/>
            <a:ext cx="576072" cy="576072"/>
            <a:chOff x="0" y="0"/>
            <a:chExt cx="768096" cy="7680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51660" y="2948940"/>
            <a:ext cx="14813280" cy="1234440"/>
            <a:chOff x="0" y="0"/>
            <a:chExt cx="1975104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510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975104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Penalises unauthorized access to a computer, computer system, or network without permission of the owner.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4402836"/>
            <a:ext cx="576072" cy="576072"/>
            <a:chOff x="0" y="0"/>
            <a:chExt cx="768096" cy="7680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" y="4402836"/>
            <a:ext cx="576072" cy="576072"/>
            <a:chOff x="0" y="0"/>
            <a:chExt cx="768096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51660" y="4320540"/>
            <a:ext cx="14813280" cy="1234440"/>
            <a:chOff x="0" y="0"/>
            <a:chExt cx="1975104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7510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975104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Covers introducing or spreading a computer virus or contaminant that damages data.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" y="5774436"/>
            <a:ext cx="576072" cy="576072"/>
            <a:chOff x="0" y="0"/>
            <a:chExt cx="768096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" y="5774436"/>
            <a:ext cx="576072" cy="576072"/>
            <a:chOff x="0" y="0"/>
            <a:chExt cx="76809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51660" y="5692140"/>
            <a:ext cx="14813280" cy="1234440"/>
            <a:chOff x="0" y="0"/>
            <a:chExt cx="1975104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7510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1975104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Applies to damaging, altering, or deleting data, or denying access to authorized users.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0120" y="7146036"/>
            <a:ext cx="576072" cy="576072"/>
            <a:chOff x="0" y="0"/>
            <a:chExt cx="768096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" y="7146036"/>
            <a:ext cx="576072" cy="576072"/>
            <a:chOff x="0" y="0"/>
            <a:chExt cx="768096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4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51660" y="7063740"/>
            <a:ext cx="14813280" cy="1234440"/>
            <a:chOff x="0" y="0"/>
            <a:chExt cx="1975104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7510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1975104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Remedy is primarily civil — compensation is payable to the person affected, not necessarily criminal punishment.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78840" y="8503920"/>
            <a:ext cx="3881628" cy="1165860"/>
            <a:chOff x="0" y="0"/>
            <a:chExt cx="5175504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7550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7550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047488" y="0"/>
                  </a:lnTo>
                  <a:cubicBezTo>
                    <a:pt x="5118227" y="0"/>
                    <a:pt x="5175504" y="57277"/>
                    <a:pt x="5175504" y="128016"/>
                  </a:cubicBezTo>
                  <a:lnTo>
                    <a:pt x="5175504" y="1426464"/>
                  </a:lnTo>
                  <a:cubicBezTo>
                    <a:pt x="5175504" y="1497203"/>
                    <a:pt x="5118227" y="1554480"/>
                    <a:pt x="5047488" y="1554480"/>
                  </a:cubicBezTo>
                  <a:lnTo>
                    <a:pt x="128016" y="1554480"/>
                  </a:lnTo>
                  <a:cubicBezTo>
                    <a:pt x="57277" y="1554480"/>
                    <a:pt x="0" y="1497203"/>
                    <a:pt x="0" y="1426464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853160" y="8503920"/>
            <a:ext cx="3429000" cy="1165860"/>
            <a:chOff x="0" y="0"/>
            <a:chExt cx="457200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5720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Nature: </a:t>
              </a:r>
              <a:r>
                <a:rPr lang="en-US" sz="1725">
                  <a:solidFill>
                    <a:srgbClr val="1621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Compensatory / Civil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2331720" cy="1371600"/>
            <a:chOff x="0" y="0"/>
            <a:chExt cx="310896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682496"/>
                  </a:lnTo>
                  <a:cubicBezTo>
                    <a:pt x="3108960" y="1763268"/>
                    <a:pt x="3043428" y="1828800"/>
                    <a:pt x="296265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-284747"/>
            <a:ext cx="2331720" cy="3449855"/>
            <a:chOff x="0" y="0"/>
            <a:chExt cx="3108960" cy="4599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4599806"/>
            </a:xfrm>
            <a:custGeom>
              <a:avLst/>
              <a:gdLst/>
              <a:ahLst/>
              <a:cxnLst/>
              <a:rect r="r" b="b" t="t" l="l"/>
              <a:pathLst>
                <a:path h="459980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99806"/>
                  </a:lnTo>
                  <a:lnTo>
                    <a:pt x="0" y="4599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60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108960" cy="4599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Section 66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29000" y="822960"/>
            <a:ext cx="13441680" cy="1234440"/>
            <a:chOff x="0" y="0"/>
            <a:chExt cx="1792224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Computer-Related Offences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400300"/>
            <a:ext cx="16637508" cy="27432"/>
            <a:chOff x="0" y="0"/>
            <a:chExt cx="22183344" cy="3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36576"/>
            </a:xfrm>
            <a:custGeom>
              <a:avLst/>
              <a:gdLst/>
              <a:ahLst/>
              <a:cxnLst/>
              <a:rect r="r" b="b" t="t" l="l"/>
              <a:pathLst>
                <a:path h="3657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0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880360"/>
            <a:ext cx="9464040" cy="2057400"/>
            <a:chOff x="0" y="0"/>
            <a:chExt cx="1261872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87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12618720" cy="287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7"/>
                </a:lnSpc>
              </a:pPr>
              <a:r>
                <a:rPr lang="en-US" sz="232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Criminalises dishonest or fraudulent acts referred to in Section 43 — commonly understood as the offence of hacking.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4800600"/>
            <a:ext cx="9464040" cy="1371600"/>
            <a:chOff x="0" y="0"/>
            <a:chExt cx="1261872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18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26187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Requires </a:t>
              </a:r>
              <a:r>
                <a:rPr lang="en-US" b="true" sz="2025" i="true">
                  <a:solidFill>
                    <a:srgbClr val="1C2333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mens rea</a:t>
              </a:r>
              <a:r>
                <a:rPr lang="en-US" sz="202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(dishonest or fraudulent intent) — distinguishing it from the civil wrong under Section 43.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67060" y="2880360"/>
            <a:ext cx="6693408" cy="5349240"/>
            <a:chOff x="0" y="0"/>
            <a:chExt cx="8924544" cy="7132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24544" cy="7132320"/>
            </a:xfrm>
            <a:custGeom>
              <a:avLst/>
              <a:gdLst/>
              <a:ahLst/>
              <a:cxnLst/>
              <a:rect r="r" b="b" t="t" l="l"/>
              <a:pathLst>
                <a:path h="7132320" w="89245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741664" y="0"/>
                  </a:lnTo>
                  <a:cubicBezTo>
                    <a:pt x="8842629" y="0"/>
                    <a:pt x="8924544" y="81915"/>
                    <a:pt x="8924544" y="182880"/>
                  </a:cubicBezTo>
                  <a:lnTo>
                    <a:pt x="8924544" y="6949440"/>
                  </a:lnTo>
                  <a:cubicBezTo>
                    <a:pt x="8924544" y="7050405"/>
                    <a:pt x="8842629" y="7132320"/>
                    <a:pt x="8741664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510260" y="3291840"/>
            <a:ext cx="1165860" cy="1165860"/>
            <a:chOff x="0" y="0"/>
            <a:chExt cx="1554480" cy="155448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109960" y="4732020"/>
            <a:ext cx="6035040" cy="480060"/>
            <a:chOff x="0" y="0"/>
            <a:chExt cx="80467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80467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30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PRESCRIBED PENALTY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09960" y="5280660"/>
            <a:ext cx="6035040" cy="960120"/>
            <a:chOff x="0" y="0"/>
            <a:chExt cx="804672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46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046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Up to 3 Years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109960" y="6172200"/>
            <a:ext cx="6035040" cy="411480"/>
            <a:chOff x="0" y="0"/>
            <a:chExt cx="80467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46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7CC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Imprisonment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09960" y="6652260"/>
            <a:ext cx="6035040" cy="411480"/>
            <a:chOff x="0" y="0"/>
            <a:chExt cx="804672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8046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9AA2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 / or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09960" y="7132320"/>
            <a:ext cx="6035040" cy="754380"/>
            <a:chOff x="0" y="0"/>
            <a:chExt cx="804672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46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0467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Up to ₹5 Lakh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09960" y="7886700"/>
            <a:ext cx="6035040" cy="342900"/>
            <a:chOff x="0" y="0"/>
            <a:chExt cx="8046720" cy="457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46720" cy="457200"/>
            </a:xfrm>
            <a:custGeom>
              <a:avLst/>
              <a:gdLst/>
              <a:ahLst/>
              <a:cxnLst/>
              <a:rect r="r" b="b" t="t" l="l"/>
              <a:pathLst>
                <a:path h="4572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0467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7CC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Fine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· SPECIFIC OFFENCES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Sections 66B – 66F: Specific Offences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606040"/>
          <a:ext cx="16592550" cy="6553200"/>
        </p:xfrm>
        <a:graphic>
          <a:graphicData uri="http://schemas.openxmlformats.org/drawingml/2006/table">
            <a:tbl>
              <a:tblPr/>
              <a:tblGrid>
                <a:gridCol w="1927429"/>
                <a:gridCol w="4653851"/>
                <a:gridCol w="10011270"/>
              </a:tblGrid>
              <a:tr h="7567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Section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Offence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11592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9C7A2E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66B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213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Receiving Stolen Computer Resource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C2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Dishonestly receiving a stolen computer or communication device.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92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9C7A2E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66C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213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Identity Theft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C2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Fraudulent or dishonest use of another person's electronic signature, password, or unique ID.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11592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9C7A2E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66D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213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Cheating by Impersonation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C2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Cheating by impersonating someone through a computer resource or communication device.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92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9C7A2E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66E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213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Violation of Privacy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C2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Capturing, publishing, or transmitting images of a person's private area without consent.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11592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9C7A2E"/>
                          </a:solidFill>
                          <a:latin typeface="Cambria Bold"/>
                          <a:ea typeface="Cambria Bold"/>
                          <a:cs typeface="Cambria Bold"/>
                          <a:sym typeface="Cambria Bold"/>
                        </a:rPr>
                        <a:t>66F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213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Cyber Terrorism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C2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Acts threatening India's unity, integrity, security, or sovereignty through cyber means.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2331720" cy="1371600"/>
            <a:chOff x="0" y="0"/>
            <a:chExt cx="310896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682496"/>
                  </a:lnTo>
                  <a:cubicBezTo>
                    <a:pt x="3108960" y="1763268"/>
                    <a:pt x="3043428" y="1828800"/>
                    <a:pt x="296265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-284747"/>
            <a:ext cx="2331720" cy="3449855"/>
            <a:chOff x="0" y="0"/>
            <a:chExt cx="3108960" cy="4599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4599806"/>
            </a:xfrm>
            <a:custGeom>
              <a:avLst/>
              <a:gdLst/>
              <a:ahLst/>
              <a:cxnLst/>
              <a:rect r="r" b="b" t="t" l="l"/>
              <a:pathLst>
                <a:path h="459980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99806"/>
                  </a:lnTo>
                  <a:lnTo>
                    <a:pt x="0" y="4599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60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108960" cy="4599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Section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29000" y="822960"/>
            <a:ext cx="13441680" cy="1234440"/>
            <a:chOff x="0" y="0"/>
            <a:chExt cx="1792224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Publishing Obscene Material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400300"/>
            <a:ext cx="16637508" cy="27432"/>
            <a:chOff x="0" y="0"/>
            <a:chExt cx="22183344" cy="3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36576"/>
            </a:xfrm>
            <a:custGeom>
              <a:avLst/>
              <a:gdLst/>
              <a:ahLst/>
              <a:cxnLst/>
              <a:rect r="r" b="b" t="t" l="l"/>
              <a:pathLst>
                <a:path h="3657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0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880360"/>
            <a:ext cx="9601200" cy="4114800"/>
            <a:chOff x="0" y="0"/>
            <a:chExt cx="12801600" cy="548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2801600" cy="559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3150"/>
                </a:lnSpc>
                <a:buFont typeface="Arial"/>
                <a:buChar char="•"/>
              </a:pPr>
              <a:r>
                <a:rPr lang="en-US" sz="21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Penalises publishing or transmitting obscene material in electronic form — including images, video, or text that appeals to prurient interest.</a:t>
              </a:r>
            </a:p>
            <a:p>
              <a:pPr algn="l" marL="380048" indent="-190024" lvl="1">
                <a:lnSpc>
                  <a:spcPts val="3150"/>
                </a:lnSpc>
                <a:buFont typeface="Arial"/>
                <a:buChar char="•"/>
              </a:pPr>
              <a:r>
                <a:rPr lang="en-US" sz="21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conviction may attract imprisonment up to 3 years with fine up to ₹5 lakh; subsequent convictions carry enhanced punishment.</a:t>
              </a:r>
            </a:p>
            <a:p>
              <a:pPr algn="l" marL="380048" indent="-190024" lvl="1">
                <a:lnSpc>
                  <a:spcPts val="3150"/>
                </a:lnSpc>
                <a:buFont typeface="Arial"/>
                <a:buChar char="•"/>
              </a:pPr>
              <a:r>
                <a:rPr lang="en-US" sz="21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67A extends this to material containing sexually explicit acts.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4220" y="2880360"/>
            <a:ext cx="6556248" cy="4663440"/>
            <a:chOff x="0" y="0"/>
            <a:chExt cx="8741664" cy="6217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41664" cy="6217920"/>
            </a:xfrm>
            <a:custGeom>
              <a:avLst/>
              <a:gdLst/>
              <a:ahLst/>
              <a:cxnLst/>
              <a:rect r="r" b="b" t="t" l="l"/>
              <a:pathLst>
                <a:path h="6217920" w="874166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558784" y="0"/>
                  </a:lnTo>
                  <a:cubicBezTo>
                    <a:pt x="8659749" y="0"/>
                    <a:pt x="8741664" y="81915"/>
                    <a:pt x="8741664" y="182880"/>
                  </a:cubicBezTo>
                  <a:lnTo>
                    <a:pt x="8741664" y="6035040"/>
                  </a:lnTo>
                  <a:cubicBezTo>
                    <a:pt x="8741664" y="6136005"/>
                    <a:pt x="8659749" y="6217920"/>
                    <a:pt x="8558784" y="6217920"/>
                  </a:cubicBezTo>
                  <a:lnTo>
                    <a:pt x="182880" y="6217920"/>
                  </a:lnTo>
                  <a:cubicBezTo>
                    <a:pt x="81915" y="6217920"/>
                    <a:pt x="0" y="6136005"/>
                    <a:pt x="0" y="603504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9988" y="3223260"/>
            <a:ext cx="1124712" cy="1124712"/>
            <a:chOff x="0" y="0"/>
            <a:chExt cx="1499616" cy="149961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4996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499616">
                  <a:moveTo>
                    <a:pt x="0" y="0"/>
                  </a:moveTo>
                  <a:lnTo>
                    <a:pt x="1499616" y="0"/>
                  </a:lnTo>
                  <a:lnTo>
                    <a:pt x="1499616" y="1499616"/>
                  </a:lnTo>
                  <a:lnTo>
                    <a:pt x="0" y="1499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178540" y="4526280"/>
            <a:ext cx="6035040" cy="480060"/>
            <a:chOff x="0" y="0"/>
            <a:chExt cx="804672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0467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99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67B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78540" y="5006340"/>
            <a:ext cx="6035040" cy="685800"/>
            <a:chOff x="0" y="0"/>
            <a:chExt cx="804672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046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Protection of Children Online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452860" y="5760720"/>
            <a:ext cx="5486400" cy="1645920"/>
            <a:chOff x="0" y="0"/>
            <a:chExt cx="731520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731520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D8DC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Specifically criminalises publishing, browsing, or distributing child sexual abuse material in electronic form — among the Act's most stringent provisions.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2331720" cy="1371600"/>
            <a:chOff x="0" y="0"/>
            <a:chExt cx="310896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1682496"/>
                  </a:lnTo>
                  <a:cubicBezTo>
                    <a:pt x="3108960" y="1763268"/>
                    <a:pt x="3043428" y="1828800"/>
                    <a:pt x="296265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-284747"/>
            <a:ext cx="2331720" cy="3449855"/>
            <a:chOff x="0" y="0"/>
            <a:chExt cx="3108960" cy="4599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4599806"/>
            </a:xfrm>
            <a:custGeom>
              <a:avLst/>
              <a:gdLst/>
              <a:ahLst/>
              <a:cxnLst/>
              <a:rect r="r" b="b" t="t" l="l"/>
              <a:pathLst>
                <a:path h="459980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99806"/>
                  </a:lnTo>
                  <a:lnTo>
                    <a:pt x="0" y="4599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60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108960" cy="4599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Section 69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29000" y="822960"/>
            <a:ext cx="13441680" cy="1234440"/>
            <a:chOff x="0" y="0"/>
            <a:chExt cx="1792224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Interception and Monitoring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400300"/>
            <a:ext cx="16637508" cy="27432"/>
            <a:chOff x="0" y="0"/>
            <a:chExt cx="22183344" cy="3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36576"/>
            </a:xfrm>
            <a:custGeom>
              <a:avLst/>
              <a:gdLst/>
              <a:ahLst/>
              <a:cxnLst/>
              <a:rect r="r" b="b" t="t" l="l"/>
              <a:pathLst>
                <a:path h="3657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0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811780"/>
            <a:ext cx="16363188" cy="1371600"/>
            <a:chOff x="0" y="0"/>
            <a:chExt cx="21817584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17585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817585">
                  <a:moveTo>
                    <a:pt x="0" y="0"/>
                  </a:moveTo>
                  <a:lnTo>
                    <a:pt x="21817585" y="0"/>
                  </a:lnTo>
                  <a:lnTo>
                    <a:pt x="21817585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456" r="0" b="-1824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21817584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Empowers the Union and State Governments to intercept, monitor, or decrypt information transmitted, received, or stored in any computer resource.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4311015"/>
            <a:ext cx="4188714" cy="704850"/>
            <a:chOff x="0" y="0"/>
            <a:chExt cx="5584952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4952" cy="939800"/>
            </a:xfrm>
            <a:custGeom>
              <a:avLst/>
              <a:gdLst/>
              <a:ahLst/>
              <a:cxnLst/>
              <a:rect r="r" b="b" t="t" l="l"/>
              <a:pathLst>
                <a:path h="939800" w="5584952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5115052" y="0"/>
                  </a:lnTo>
                  <a:cubicBezTo>
                    <a:pt x="5374513" y="0"/>
                    <a:pt x="5584952" y="210439"/>
                    <a:pt x="5584952" y="469900"/>
                  </a:cubicBezTo>
                  <a:cubicBezTo>
                    <a:pt x="5584952" y="729361"/>
                    <a:pt x="5374513" y="939800"/>
                    <a:pt x="5115052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F1EA"/>
            </a:solidFill>
            <a:ln w="19050" cap="sq">
              <a:solidFill>
                <a:srgbClr val="C9A24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4320540"/>
            <a:ext cx="4169664" cy="685800"/>
            <a:chOff x="0" y="0"/>
            <a:chExt cx="5559552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59552" cy="914400"/>
            </a:xfrm>
            <a:custGeom>
              <a:avLst/>
              <a:gdLst/>
              <a:ahLst/>
              <a:cxnLst/>
              <a:rect r="r" b="b" t="t" l="l"/>
              <a:pathLst>
                <a:path h="91440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69" r="0" b="-684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5559552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Sovereignty &amp; Integrity of India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57419" y="4311015"/>
            <a:ext cx="2906268" cy="704850"/>
            <a:chOff x="0" y="0"/>
            <a:chExt cx="3875024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75024" cy="939800"/>
            </a:xfrm>
            <a:custGeom>
              <a:avLst/>
              <a:gdLst/>
              <a:ahLst/>
              <a:cxnLst/>
              <a:rect r="r" b="b" t="t" l="l"/>
              <a:pathLst>
                <a:path h="939800" w="3875024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405124" y="0"/>
                  </a:lnTo>
                  <a:cubicBezTo>
                    <a:pt x="3664585" y="0"/>
                    <a:pt x="3875024" y="210439"/>
                    <a:pt x="3875024" y="469900"/>
                  </a:cubicBezTo>
                  <a:cubicBezTo>
                    <a:pt x="3875024" y="729361"/>
                    <a:pt x="3664585" y="939800"/>
                    <a:pt x="3405124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F1EA"/>
            </a:solidFill>
            <a:ln w="19050" cap="sq">
              <a:solidFill>
                <a:srgbClr val="C9A24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266944" y="4320540"/>
            <a:ext cx="2887218" cy="685800"/>
            <a:chOff x="0" y="0"/>
            <a:chExt cx="3849624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49624" cy="914400"/>
            </a:xfrm>
            <a:custGeom>
              <a:avLst/>
              <a:gdLst/>
              <a:ahLst/>
              <a:cxnLst/>
              <a:rect r="r" b="b" t="t" l="l"/>
              <a:pathLst>
                <a:path h="914400" w="3849624">
                  <a:moveTo>
                    <a:pt x="0" y="0"/>
                  </a:moveTo>
                  <a:lnTo>
                    <a:pt x="3849624" y="0"/>
                  </a:lnTo>
                  <a:lnTo>
                    <a:pt x="38496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32" r="0" b="-320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849624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of the State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418957" y="4311015"/>
            <a:ext cx="4888230" cy="704850"/>
            <a:chOff x="0" y="0"/>
            <a:chExt cx="6517640" cy="939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17640" cy="939800"/>
            </a:xfrm>
            <a:custGeom>
              <a:avLst/>
              <a:gdLst/>
              <a:ahLst/>
              <a:cxnLst/>
              <a:rect r="r" b="b" t="t" l="l"/>
              <a:pathLst>
                <a:path h="939800" w="651764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6047740" y="0"/>
                  </a:lnTo>
                  <a:cubicBezTo>
                    <a:pt x="6307201" y="0"/>
                    <a:pt x="6517640" y="210439"/>
                    <a:pt x="6517640" y="469900"/>
                  </a:cubicBezTo>
                  <a:cubicBezTo>
                    <a:pt x="6517640" y="729361"/>
                    <a:pt x="6307201" y="939800"/>
                    <a:pt x="604774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F1EA"/>
            </a:solidFill>
            <a:ln w="19050" cap="sq">
              <a:solidFill>
                <a:srgbClr val="C9A24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428482" y="4320540"/>
            <a:ext cx="4869180" cy="685800"/>
            <a:chOff x="0" y="0"/>
            <a:chExt cx="649224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6492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Friendly Relations with Foreign States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62457" y="4311015"/>
            <a:ext cx="1856994" cy="704850"/>
            <a:chOff x="0" y="0"/>
            <a:chExt cx="2475992" cy="939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5992" cy="939800"/>
            </a:xfrm>
            <a:custGeom>
              <a:avLst/>
              <a:gdLst/>
              <a:ahLst/>
              <a:cxnLst/>
              <a:rect r="r" b="b" t="t" l="l"/>
              <a:pathLst>
                <a:path h="939800" w="2475992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2006092" y="0"/>
                  </a:lnTo>
                  <a:cubicBezTo>
                    <a:pt x="2265553" y="0"/>
                    <a:pt x="2475992" y="210439"/>
                    <a:pt x="2475992" y="469900"/>
                  </a:cubicBezTo>
                  <a:cubicBezTo>
                    <a:pt x="2475992" y="729361"/>
                    <a:pt x="2265553" y="939800"/>
                    <a:pt x="2006092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F1EA"/>
            </a:solidFill>
            <a:ln w="19050" cap="sq">
              <a:solidFill>
                <a:srgbClr val="C9A24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71982" y="4320540"/>
            <a:ext cx="1837944" cy="685800"/>
            <a:chOff x="0" y="0"/>
            <a:chExt cx="2450592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50592" cy="914400"/>
            </a:xfrm>
            <a:custGeom>
              <a:avLst/>
              <a:gdLst/>
              <a:ahLst/>
              <a:cxnLst/>
              <a:rect r="r" b="b" t="t" l="l"/>
              <a:pathLst>
                <a:path h="914400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9" r="0" b="-22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450592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Order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3435" y="5202555"/>
            <a:ext cx="4188714" cy="704850"/>
            <a:chOff x="0" y="0"/>
            <a:chExt cx="5584952" cy="93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84952" cy="939800"/>
            </a:xfrm>
            <a:custGeom>
              <a:avLst/>
              <a:gdLst/>
              <a:ahLst/>
              <a:cxnLst/>
              <a:rect r="r" b="b" t="t" l="l"/>
              <a:pathLst>
                <a:path h="939800" w="5584952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5115052" y="0"/>
                  </a:lnTo>
                  <a:cubicBezTo>
                    <a:pt x="5374513" y="0"/>
                    <a:pt x="5584952" y="210439"/>
                    <a:pt x="5584952" y="469900"/>
                  </a:cubicBezTo>
                  <a:cubicBezTo>
                    <a:pt x="5584952" y="729361"/>
                    <a:pt x="5374513" y="939800"/>
                    <a:pt x="5115052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F1EA"/>
            </a:solidFill>
            <a:ln w="19050" cap="sq">
              <a:solidFill>
                <a:srgbClr val="C9A24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5212080"/>
            <a:ext cx="4169664" cy="685800"/>
            <a:chOff x="0" y="0"/>
            <a:chExt cx="5559552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59552" cy="914400"/>
            </a:xfrm>
            <a:custGeom>
              <a:avLst/>
              <a:gdLst/>
              <a:ahLst/>
              <a:cxnLst/>
              <a:rect r="r" b="b" t="t" l="l"/>
              <a:pathLst>
                <a:path h="91440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69" r="0" b="-684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5559552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Preventing Incitement to Offence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446520"/>
            <a:ext cx="16637508" cy="2674620"/>
            <a:chOff x="0" y="0"/>
            <a:chExt cx="22183344" cy="3566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83344" cy="3566160"/>
            </a:xfrm>
            <a:custGeom>
              <a:avLst/>
              <a:gdLst/>
              <a:ahLst/>
              <a:cxnLst/>
              <a:rect r="r" b="b" t="t" l="l"/>
              <a:pathLst>
                <a:path h="3566160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3383280"/>
                  </a:lnTo>
                  <a:cubicBezTo>
                    <a:pt x="22183344" y="3484245"/>
                    <a:pt x="22101428" y="3566160"/>
                    <a:pt x="22000463" y="3566160"/>
                  </a:cubicBezTo>
                  <a:lnTo>
                    <a:pt x="182880" y="3566160"/>
                  </a:lnTo>
                  <a:cubicBezTo>
                    <a:pt x="81915" y="3566160"/>
                    <a:pt x="0" y="3484245"/>
                    <a:pt x="0" y="338328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020" y="7063740"/>
            <a:ext cx="1234440" cy="1234440"/>
            <a:chOff x="0" y="0"/>
            <a:chExt cx="1645920" cy="164592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880360" y="6789420"/>
            <a:ext cx="14127480" cy="548640"/>
            <a:chOff x="0" y="0"/>
            <a:chExt cx="188366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836639" cy="731520"/>
            </a:xfrm>
            <a:custGeom>
              <a:avLst/>
              <a:gdLst/>
              <a:ahLst/>
              <a:cxnLst/>
              <a:rect r="r" b="b" t="t" l="l"/>
              <a:pathLst>
                <a:path h="73152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739" r="0" b="-4517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8836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Security–Privacy Debate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880360" y="7338060"/>
            <a:ext cx="14127480" cy="1645920"/>
            <a:chOff x="0" y="0"/>
            <a:chExt cx="18836640" cy="2194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8366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246" r="0" b="-11724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04775"/>
              <a:ext cx="1883664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D8DC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69 raises an ongoing constitutional tension: how far can the state's surveillance powers extend before they infringe the right to privacy recognised in K.S. Puttaswamy v. Union of India (2017)?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ADJUDICATION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Adjudication Mechanism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7011" y="2880360"/>
            <a:ext cx="3771900" cy="4526280"/>
            <a:chOff x="0" y="0"/>
            <a:chExt cx="5029200" cy="6035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29200" cy="6035040"/>
            </a:xfrm>
            <a:custGeom>
              <a:avLst/>
              <a:gdLst/>
              <a:ahLst/>
              <a:cxnLst/>
              <a:rect r="r" b="b" t="t" l="l"/>
              <a:pathLst>
                <a:path h="603504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852160"/>
                  </a:lnTo>
                  <a:cubicBezTo>
                    <a:pt x="5029200" y="5953125"/>
                    <a:pt x="4947285" y="6035040"/>
                    <a:pt x="4846320" y="6035040"/>
                  </a:cubicBezTo>
                  <a:lnTo>
                    <a:pt x="182880" y="6035040"/>
                  </a:lnTo>
                  <a:cubicBezTo>
                    <a:pt x="81915" y="6035040"/>
                    <a:pt x="0" y="5953125"/>
                    <a:pt x="0" y="585216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92629" y="3291840"/>
            <a:ext cx="740664" cy="740664"/>
            <a:chOff x="0" y="0"/>
            <a:chExt cx="987552" cy="98755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2751" y="4242435"/>
            <a:ext cx="33604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Complaint Filed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331" y="4949190"/>
            <a:ext cx="322326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57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Aggrieved party files a complaint regarding a cyber dispute or offence.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548911" y="4800600"/>
            <a:ext cx="548640" cy="685800"/>
            <a:chOff x="0" y="0"/>
            <a:chExt cx="7315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" cy="914400"/>
            </a:xfrm>
            <a:custGeom>
              <a:avLst/>
              <a:gdLst/>
              <a:ahLst/>
              <a:cxnLst/>
              <a:rect r="r" b="b" t="t" l="l"/>
              <a:pathLst>
                <a:path h="9144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15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97551" y="2880360"/>
            <a:ext cx="3771900" cy="4526280"/>
            <a:chOff x="0" y="0"/>
            <a:chExt cx="5029200" cy="6035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29200" cy="6035040"/>
            </a:xfrm>
            <a:custGeom>
              <a:avLst/>
              <a:gdLst/>
              <a:ahLst/>
              <a:cxnLst/>
              <a:rect r="r" b="b" t="t" l="l"/>
              <a:pathLst>
                <a:path h="603504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852160"/>
                  </a:lnTo>
                  <a:cubicBezTo>
                    <a:pt x="5029200" y="5953125"/>
                    <a:pt x="4947285" y="6035040"/>
                    <a:pt x="4846320" y="6035040"/>
                  </a:cubicBezTo>
                  <a:lnTo>
                    <a:pt x="182880" y="6035040"/>
                  </a:lnTo>
                  <a:cubicBezTo>
                    <a:pt x="81915" y="6035040"/>
                    <a:pt x="0" y="5953125"/>
                    <a:pt x="0" y="5852160"/>
                  </a:cubicBezTo>
                  <a:close/>
                </a:path>
              </a:pathLst>
            </a:custGeom>
            <a:solidFill>
              <a:srgbClr val="3A4A6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13169" y="3291840"/>
            <a:ext cx="740664" cy="740664"/>
            <a:chOff x="0" y="0"/>
            <a:chExt cx="987552" cy="98755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303291" y="4242435"/>
            <a:ext cx="33604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Adjudicating Officer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71871" y="4949190"/>
            <a:ext cx="322326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57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Resolves disputes where claims do not exceed the prescribed limit.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69451" y="4800600"/>
            <a:ext cx="548640" cy="685800"/>
            <a:chOff x="0" y="0"/>
            <a:chExt cx="73152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914400"/>
            </a:xfrm>
            <a:custGeom>
              <a:avLst/>
              <a:gdLst/>
              <a:ahLst/>
              <a:cxnLst/>
              <a:rect r="r" b="b" t="t" l="l"/>
              <a:pathLst>
                <a:path h="9144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315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18091" y="2880360"/>
            <a:ext cx="3771900" cy="4526280"/>
            <a:chOff x="0" y="0"/>
            <a:chExt cx="5029200" cy="6035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29200" cy="6035040"/>
            </a:xfrm>
            <a:custGeom>
              <a:avLst/>
              <a:gdLst/>
              <a:ahLst/>
              <a:cxnLst/>
              <a:rect r="r" b="b" t="t" l="l"/>
              <a:pathLst>
                <a:path h="603504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852160"/>
                  </a:lnTo>
                  <a:cubicBezTo>
                    <a:pt x="5029200" y="5953125"/>
                    <a:pt x="4947285" y="6035040"/>
                    <a:pt x="4846320" y="6035040"/>
                  </a:cubicBezTo>
                  <a:lnTo>
                    <a:pt x="182880" y="6035040"/>
                  </a:lnTo>
                  <a:cubicBezTo>
                    <a:pt x="81915" y="6035040"/>
                    <a:pt x="0" y="5953125"/>
                    <a:pt x="0" y="585216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33709" y="3291840"/>
            <a:ext cx="740664" cy="740664"/>
            <a:chOff x="0" y="0"/>
            <a:chExt cx="987552" cy="987552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23831" y="4242435"/>
            <a:ext cx="33604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Appeal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92411" y="4949190"/>
            <a:ext cx="322326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57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Either party may appeal the order if aggrieved by the decision.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189991" y="4800600"/>
            <a:ext cx="548640" cy="685800"/>
            <a:chOff x="0" y="0"/>
            <a:chExt cx="7315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914400"/>
            </a:xfrm>
            <a:custGeom>
              <a:avLst/>
              <a:gdLst/>
              <a:ahLst/>
              <a:cxnLst/>
              <a:rect r="r" b="b" t="t" l="l"/>
              <a:pathLst>
                <a:path h="9144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315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38631" y="2880360"/>
            <a:ext cx="3771900" cy="4526280"/>
            <a:chOff x="0" y="0"/>
            <a:chExt cx="5029200" cy="6035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29200" cy="6035040"/>
            </a:xfrm>
            <a:custGeom>
              <a:avLst/>
              <a:gdLst/>
              <a:ahLst/>
              <a:cxnLst/>
              <a:rect r="r" b="b" t="t" l="l"/>
              <a:pathLst>
                <a:path h="603504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852160"/>
                  </a:lnTo>
                  <a:cubicBezTo>
                    <a:pt x="5029200" y="5953125"/>
                    <a:pt x="4947285" y="6035040"/>
                    <a:pt x="4846320" y="6035040"/>
                  </a:cubicBezTo>
                  <a:lnTo>
                    <a:pt x="182880" y="6035040"/>
                  </a:lnTo>
                  <a:cubicBezTo>
                    <a:pt x="81915" y="6035040"/>
                    <a:pt x="0" y="5953125"/>
                    <a:pt x="0" y="5852160"/>
                  </a:cubicBezTo>
                  <a:close/>
                </a:path>
              </a:pathLst>
            </a:custGeom>
            <a:solidFill>
              <a:srgbClr val="3A4A6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254249" y="3291840"/>
            <a:ext cx="740664" cy="740664"/>
            <a:chOff x="0" y="0"/>
            <a:chExt cx="987552" cy="987552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944371" y="4242435"/>
            <a:ext cx="33604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TDSAT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012951" y="4949190"/>
            <a:ext cx="322326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575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Cyber Appellate Tribunal's functions now merged into the Telecom Disputes Settlement Appellate Tribunal.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· CERT-IN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Role of CERT-In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9189720" cy="2194560"/>
            <a:chOff x="0" y="0"/>
            <a:chExt cx="12252960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52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93" r="0" b="-3159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225296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1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Indian Computer Emergency Response Team (CERT-In) is the national nodal agency for cybersecurity incident response, operating under the Ministry of Electronics and Information Technology.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1540" y="4992624"/>
            <a:ext cx="219456" cy="219456"/>
            <a:chOff x="0" y="0"/>
            <a:chExt cx="292608" cy="2926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4773168"/>
            <a:ext cx="8778240" cy="617220"/>
            <a:chOff x="0" y="0"/>
            <a:chExt cx="1170432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04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704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Collecting, analysing, and disseminating information on cyber incidents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1540" y="5678424"/>
            <a:ext cx="219456" cy="219456"/>
            <a:chOff x="0" y="0"/>
            <a:chExt cx="292608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3020" y="5458968"/>
            <a:ext cx="8778240" cy="617220"/>
            <a:chOff x="0" y="0"/>
            <a:chExt cx="1170432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04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704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Issuing alerts and advisories on emerging vulnerabilities and threats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1540" y="6364224"/>
            <a:ext cx="219456" cy="219456"/>
            <a:chOff x="0" y="0"/>
            <a:chExt cx="292608" cy="292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6144768"/>
            <a:ext cx="8778240" cy="617220"/>
            <a:chOff x="0" y="0"/>
            <a:chExt cx="1170432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704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Coordinating cyber incident response among stakeholders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1540" y="7050024"/>
            <a:ext cx="219456" cy="219456"/>
            <a:chOff x="0" y="0"/>
            <a:chExt cx="292608" cy="2926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03020" y="6830568"/>
            <a:ext cx="8778240" cy="617220"/>
            <a:chOff x="0" y="0"/>
            <a:chExt cx="1170432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04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704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Conducting emergency measures during major cyber incidents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1540" y="7735824"/>
            <a:ext cx="219456" cy="219456"/>
            <a:chOff x="0" y="0"/>
            <a:chExt cx="292608" cy="29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03020" y="7516368"/>
            <a:ext cx="8778240" cy="617220"/>
            <a:chOff x="0" y="0"/>
            <a:chExt cx="1170432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04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1704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Promoting research and security best practices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561320" y="2606040"/>
            <a:ext cx="6858000" cy="6652260"/>
            <a:chOff x="0" y="0"/>
            <a:chExt cx="9144000" cy="8869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8869680"/>
            </a:xfrm>
            <a:custGeom>
              <a:avLst/>
              <a:gdLst/>
              <a:ahLst/>
              <a:cxnLst/>
              <a:rect r="r" b="b" t="t" l="l"/>
              <a:pathLst>
                <a:path h="8869680" w="9144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961120" y="0"/>
                  </a:lnTo>
                  <a:cubicBezTo>
                    <a:pt x="9062085" y="0"/>
                    <a:pt x="9144000" y="81915"/>
                    <a:pt x="9144000" y="182880"/>
                  </a:cubicBezTo>
                  <a:lnTo>
                    <a:pt x="9144000" y="8686800"/>
                  </a:lnTo>
                  <a:cubicBezTo>
                    <a:pt x="9144000" y="8787765"/>
                    <a:pt x="9062085" y="8869680"/>
                    <a:pt x="8961120" y="8869680"/>
                  </a:cubicBezTo>
                  <a:lnTo>
                    <a:pt x="182880" y="8869680"/>
                  </a:lnTo>
                  <a:cubicBezTo>
                    <a:pt x="81915" y="8869680"/>
                    <a:pt x="0" y="8787765"/>
                    <a:pt x="0" y="868680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304520" y="3291840"/>
            <a:ext cx="1371600" cy="1371600"/>
            <a:chOff x="0" y="0"/>
            <a:chExt cx="1828800" cy="18288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35640" y="4869180"/>
            <a:ext cx="6309360" cy="685800"/>
            <a:chOff x="0" y="0"/>
            <a:chExt cx="841248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8412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CERT-In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835640" y="5554980"/>
            <a:ext cx="6309360" cy="548640"/>
            <a:chOff x="0" y="0"/>
            <a:chExt cx="84124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9A2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Established under Section 70B of the IT Act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109960" y="6309360"/>
            <a:ext cx="5760720" cy="2606040"/>
            <a:chOff x="0" y="0"/>
            <a:chExt cx="7680960" cy="3474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809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42" t="0" r="-804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7680960" cy="3579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D8DC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Acts as India's first line of defence — agencies and organisations are required to report cyber incidents to CERT-In within prescribed timelines.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AMENDMENT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 (Amendment) Act, 2008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6363188" cy="960120"/>
            <a:chOff x="0" y="0"/>
            <a:chExt cx="21817584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17585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817585">
                  <a:moveTo>
                    <a:pt x="0" y="0"/>
                  </a:moveTo>
                  <a:lnTo>
                    <a:pt x="21817585" y="0"/>
                  </a:lnTo>
                  <a:lnTo>
                    <a:pt x="21817585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080" r="0" b="-2820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817584" cy="1384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 i="true">
                  <a:solidFill>
                    <a:srgbClr val="3A4A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Rising cybercrime, the absence of cyber-terrorism provisions, and gaps in data protection made a comprehensive amendment necessary.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3762375"/>
            <a:ext cx="8042910" cy="5299710"/>
            <a:chOff x="0" y="0"/>
            <a:chExt cx="10723880" cy="7066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3880" cy="7066280"/>
            </a:xfrm>
            <a:custGeom>
              <a:avLst/>
              <a:gdLst/>
              <a:ahLst/>
              <a:cxnLst/>
              <a:rect r="r" b="b" t="t" l="l"/>
              <a:pathLst>
                <a:path h="7066280" w="107238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540365" y="0"/>
                  </a:lnTo>
                  <a:cubicBezTo>
                    <a:pt x="10641711" y="0"/>
                    <a:pt x="10723880" y="82169"/>
                    <a:pt x="10723880" y="183515"/>
                  </a:cubicBezTo>
                  <a:lnTo>
                    <a:pt x="10723880" y="6882765"/>
                  </a:lnTo>
                  <a:cubicBezTo>
                    <a:pt x="10723880" y="6984111"/>
                    <a:pt x="10641711" y="7066280"/>
                    <a:pt x="10540365" y="7066280"/>
                  </a:cubicBezTo>
                  <a:lnTo>
                    <a:pt x="183515" y="7066280"/>
                  </a:lnTo>
                  <a:cubicBezTo>
                    <a:pt x="82169" y="7066280"/>
                    <a:pt x="0" y="6984111"/>
                    <a:pt x="0" y="6882765"/>
                  </a:cubicBezTo>
                  <a:close/>
                </a:path>
              </a:pathLst>
            </a:custGeom>
            <a:solidFill>
              <a:srgbClr val="F4F1EA"/>
            </a:solidFill>
            <a:ln w="19050" cap="sq">
              <a:solidFill>
                <a:srgbClr val="D8D2B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4114800"/>
            <a:ext cx="7200900" cy="548640"/>
            <a:chOff x="0" y="0"/>
            <a:chExt cx="96012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60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6B73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(2000)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4869180"/>
            <a:ext cx="7200900" cy="3771900"/>
            <a:chOff x="0" y="0"/>
            <a:chExt cx="9601200" cy="502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01200" cy="5029200"/>
            </a:xfrm>
            <a:custGeom>
              <a:avLst/>
              <a:gdLst/>
              <a:ahLst/>
              <a:cxnLst/>
              <a:rect r="r" b="b" t="t" l="l"/>
              <a:pathLst>
                <a:path h="50292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9601200" cy="512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specific provision for cyber terrorism</a:t>
              </a:r>
            </a:p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data protection clauses</a:t>
              </a:r>
            </a:p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clear identity theft provisions</a:t>
              </a:r>
            </a:p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Vague treatment of online offensive content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36608" y="3771900"/>
            <a:ext cx="8023860" cy="5280660"/>
            <a:chOff x="0" y="0"/>
            <a:chExt cx="10698480" cy="7040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98480" cy="7040880"/>
            </a:xfrm>
            <a:custGeom>
              <a:avLst/>
              <a:gdLst/>
              <a:ahLst/>
              <a:cxnLst/>
              <a:rect r="r" b="b" t="t" l="l"/>
              <a:pathLst>
                <a:path h="704088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6858000"/>
                  </a:lnTo>
                  <a:cubicBezTo>
                    <a:pt x="10698480" y="6958965"/>
                    <a:pt x="10616565" y="7040880"/>
                    <a:pt x="10515600" y="7040880"/>
                  </a:cubicBezTo>
                  <a:lnTo>
                    <a:pt x="182880" y="7040880"/>
                  </a:lnTo>
                  <a:cubicBezTo>
                    <a:pt x="81915" y="7040880"/>
                    <a:pt x="0" y="6958965"/>
                    <a:pt x="0" y="685800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48088" y="4114800"/>
            <a:ext cx="7200900" cy="548640"/>
            <a:chOff x="0" y="0"/>
            <a:chExt cx="96012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60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(2008)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48088" y="4869180"/>
            <a:ext cx="7200900" cy="3771900"/>
            <a:chOff x="0" y="0"/>
            <a:chExt cx="9601200" cy="502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01200" cy="5029200"/>
            </a:xfrm>
            <a:custGeom>
              <a:avLst/>
              <a:gdLst/>
              <a:ahLst/>
              <a:cxnLst/>
              <a:rect r="r" b="b" t="t" l="l"/>
              <a:pathLst>
                <a:path h="50292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9601200" cy="512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E4E7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66F added — cyber terrorism criminalised</a:t>
              </a:r>
            </a:p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E4E7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Stronger data protection provisions introduced</a:t>
              </a:r>
            </a:p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E4E7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Sections 66C, 66D added for identity theft &amp; impersonation</a:t>
              </a:r>
            </a:p>
            <a:p>
              <a:pPr algn="l" marL="352901" indent="-176451" lvl="1">
                <a:lnSpc>
                  <a:spcPts val="2808"/>
                </a:lnSpc>
                <a:buFont typeface="Arial"/>
                <a:buChar char="•"/>
              </a:pPr>
              <a:r>
                <a:rPr lang="en-US" sz="1950">
                  <a:solidFill>
                    <a:srgbClr val="E4E7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66A added for offensive messages (later struck down)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 · LANDMARK CASE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Section 66A: Rise and Fall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9189720" cy="1920240"/>
            <a:chOff x="0" y="0"/>
            <a:chExt cx="12252960" cy="2560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529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49" r="0" b="-432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2252960" cy="2674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175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66A criminalised sending "offensive" or "menacing" messages through communication services , but its vague wording made it ripe for misuse.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526280"/>
            <a:ext cx="9189720" cy="2743200"/>
            <a:chOff x="0" y="0"/>
            <a:chExt cx="12252960" cy="365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529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74" r="0" b="-1527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12252960" cy="3762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925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to arrest individuals for social media posts and political commentary</a:t>
              </a:r>
            </a:p>
            <a:p>
              <a:pPr algn="l" marL="352901" indent="-176451" lvl="1">
                <a:lnSpc>
                  <a:spcPts val="2925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Criticised as vague, overbroad, and a tool for arbitrary enforcement</a:t>
              </a:r>
            </a:p>
            <a:p>
              <a:pPr algn="l" marL="352901" indent="-176451" lvl="1">
                <a:lnSpc>
                  <a:spcPts val="2925"/>
                </a:lnSpc>
                <a:buFont typeface="Arial"/>
                <a:buChar char="•"/>
              </a:pPr>
              <a:r>
                <a:rPr lang="en-US" sz="19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Challenged before the Supreme Court of India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92740" y="2606040"/>
            <a:ext cx="6967728" cy="6446520"/>
            <a:chOff x="0" y="0"/>
            <a:chExt cx="9290304" cy="859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90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929030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107424" y="0"/>
                  </a:lnTo>
                  <a:cubicBezTo>
                    <a:pt x="9208389" y="0"/>
                    <a:pt x="9290304" y="81915"/>
                    <a:pt x="9290304" y="182880"/>
                  </a:cubicBezTo>
                  <a:lnTo>
                    <a:pt x="9290304" y="8412480"/>
                  </a:lnTo>
                  <a:cubicBezTo>
                    <a:pt x="9290304" y="8513445"/>
                    <a:pt x="9208389" y="8595360"/>
                    <a:pt x="9107424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04520" y="2948940"/>
            <a:ext cx="1303020" cy="1303020"/>
            <a:chOff x="0" y="0"/>
            <a:chExt cx="1737360" cy="173736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04220" y="4389120"/>
            <a:ext cx="6172200" cy="411480"/>
            <a:chOff x="0" y="0"/>
            <a:chExt cx="82296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229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30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LANDMARK CASE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04220" y="4869180"/>
            <a:ext cx="6172200" cy="1165860"/>
            <a:chOff x="0" y="0"/>
            <a:chExt cx="822960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2296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Shreya Singhal v.</a:t>
              </a:r>
            </a:p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Union of India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04220" y="6035040"/>
            <a:ext cx="6172200" cy="411480"/>
            <a:chOff x="0" y="0"/>
            <a:chExt cx="82296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2296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i="true">
                  <a:solidFill>
                    <a:srgbClr val="9AA2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(2015)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78540" y="6652260"/>
            <a:ext cx="5623560" cy="2194560"/>
            <a:chOff x="0" y="0"/>
            <a:chExt cx="7498080" cy="2926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98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749808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D8DC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Supreme Court struck down Section 66A in its entirety, holding it violated the right to freedom of speech and expression under Article 19(1)(a) of the Constitution.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· DPDP 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 Act and the DPDP Act, 2023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16363188" cy="1371600"/>
            <a:chOff x="0" y="0"/>
            <a:chExt cx="21817584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17585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817585">
                  <a:moveTo>
                    <a:pt x="0" y="0"/>
                  </a:moveTo>
                  <a:lnTo>
                    <a:pt x="21817585" y="0"/>
                  </a:lnTo>
                  <a:lnTo>
                    <a:pt x="21817585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456" r="0" b="-18245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21817584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>
                  <a:solidFill>
                    <a:srgbClr val="1C2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Digital Personal Data Protection Act, 2023 was introduced to provide a more comprehensive and dedicated personal data protection framework for India.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389120"/>
            <a:ext cx="5280660" cy="3703320"/>
            <a:chOff x="0" y="0"/>
            <a:chExt cx="7040880" cy="4937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088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4773168"/>
                  </a:lnTo>
                  <a:cubicBezTo>
                    <a:pt x="7040880" y="4864100"/>
                    <a:pt x="6967220" y="4937760"/>
                    <a:pt x="6876288" y="4937760"/>
                  </a:cubicBezTo>
                  <a:lnTo>
                    <a:pt x="164592" y="4937760"/>
                  </a:lnTo>
                  <a:cubicBezTo>
                    <a:pt x="73660" y="4937760"/>
                    <a:pt x="0" y="4864100"/>
                    <a:pt x="0" y="4773168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4800600"/>
            <a:ext cx="617220" cy="617220"/>
            <a:chOff x="0" y="0"/>
            <a:chExt cx="822960" cy="82296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5623560"/>
            <a:ext cx="4457700" cy="685800"/>
            <a:chOff x="0" y="0"/>
            <a:chExt cx="59436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Dedicated Framework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4440" y="6301740"/>
            <a:ext cx="4457700" cy="151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Unlike the IT Act's limited data clauses, DPDP focuses solely on personal data protection.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15100" y="4389120"/>
            <a:ext cx="5280660" cy="3703320"/>
            <a:chOff x="0" y="0"/>
            <a:chExt cx="7040880" cy="4937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088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4773168"/>
                  </a:lnTo>
                  <a:cubicBezTo>
                    <a:pt x="7040880" y="4864100"/>
                    <a:pt x="6967220" y="4937760"/>
                    <a:pt x="6876288" y="4937760"/>
                  </a:cubicBezTo>
                  <a:lnTo>
                    <a:pt x="164592" y="4937760"/>
                  </a:lnTo>
                  <a:cubicBezTo>
                    <a:pt x="73660" y="4937760"/>
                    <a:pt x="0" y="4864100"/>
                    <a:pt x="0" y="4773168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926580" y="4800600"/>
            <a:ext cx="617220" cy="617220"/>
            <a:chOff x="0" y="0"/>
            <a:chExt cx="822960" cy="8229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926580" y="5623560"/>
            <a:ext cx="4457700" cy="685800"/>
            <a:chOff x="0" y="0"/>
            <a:chExt cx="59436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Overlapping Scope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26580" y="6301740"/>
            <a:ext cx="4457700" cy="151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to eventually overlap with — and in parts replace — IT Act provisions on data.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07240" y="4389120"/>
            <a:ext cx="5280660" cy="3703320"/>
            <a:chOff x="0" y="0"/>
            <a:chExt cx="7040880" cy="4937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088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4773168"/>
                  </a:lnTo>
                  <a:cubicBezTo>
                    <a:pt x="7040880" y="4864100"/>
                    <a:pt x="6967220" y="4937760"/>
                    <a:pt x="6876288" y="4937760"/>
                  </a:cubicBezTo>
                  <a:lnTo>
                    <a:pt x="164592" y="4937760"/>
                  </a:lnTo>
                  <a:cubicBezTo>
                    <a:pt x="73660" y="4937760"/>
                    <a:pt x="0" y="4864100"/>
                    <a:pt x="0" y="4773168"/>
                  </a:cubicBez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618720" y="4800600"/>
            <a:ext cx="617220" cy="617220"/>
            <a:chOff x="0" y="0"/>
            <a:chExt cx="822960" cy="82296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618720" y="5623560"/>
            <a:ext cx="4457700" cy="685800"/>
            <a:chOff x="0" y="0"/>
            <a:chExt cx="59436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Rights-Based Approach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618720" y="6301740"/>
            <a:ext cx="4457700" cy="151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1C2333"/>
                </a:solidFill>
                <a:latin typeface="Calibri (MS)"/>
                <a:ea typeface="Calibri (MS)"/>
                <a:cs typeface="Calibri (MS)"/>
                <a:sym typeface="Calibri (MS)"/>
              </a:rPr>
              <a:t>Grants individuals clearer rights over their personal data and its processing.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5486400" cy="480060"/>
            <a:chOff x="0" y="0"/>
            <a:chExt cx="7315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9C7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 · CHALLENGES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Challenges and Limitations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3113532" cy="6035040"/>
            <a:chOff x="0" y="0"/>
            <a:chExt cx="4151376" cy="8046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51376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513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986784" y="0"/>
                  </a:lnTo>
                  <a:cubicBezTo>
                    <a:pt x="4077716" y="0"/>
                    <a:pt x="4151376" y="73660"/>
                    <a:pt x="4151376" y="164592"/>
                  </a:cubicBezTo>
                  <a:lnTo>
                    <a:pt x="4151376" y="7882128"/>
                  </a:lnTo>
                  <a:cubicBezTo>
                    <a:pt x="4151376" y="7973060"/>
                    <a:pt x="4077716" y="8046720"/>
                    <a:pt x="3986784" y="8046720"/>
                  </a:cubicBezTo>
                  <a:lnTo>
                    <a:pt x="164592" y="8046720"/>
                  </a:lnTo>
                  <a:cubicBezTo>
                    <a:pt x="73660" y="8046720"/>
                    <a:pt x="0" y="7973060"/>
                    <a:pt x="0" y="7882128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64258" y="3223260"/>
            <a:ext cx="630936" cy="630936"/>
            <a:chOff x="0" y="0"/>
            <a:chExt cx="841248" cy="84124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114800"/>
            <a:ext cx="2702052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Technology Outpaces Law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" y="5282565"/>
            <a:ext cx="2619756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0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Rapid evolution of technology continually outpaces legislative updates.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183380" y="2811780"/>
            <a:ext cx="3113532" cy="6035040"/>
            <a:chOff x="0" y="0"/>
            <a:chExt cx="4151376" cy="8046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51376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513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986784" y="0"/>
                  </a:lnTo>
                  <a:cubicBezTo>
                    <a:pt x="4077716" y="0"/>
                    <a:pt x="4151376" y="73660"/>
                    <a:pt x="4151376" y="164592"/>
                  </a:cubicBezTo>
                  <a:lnTo>
                    <a:pt x="4151376" y="7882128"/>
                  </a:lnTo>
                  <a:cubicBezTo>
                    <a:pt x="4151376" y="7973060"/>
                    <a:pt x="4077716" y="8046720"/>
                    <a:pt x="3986784" y="8046720"/>
                  </a:cubicBezTo>
                  <a:lnTo>
                    <a:pt x="164592" y="8046720"/>
                  </a:lnTo>
                  <a:cubicBezTo>
                    <a:pt x="73660" y="8046720"/>
                    <a:pt x="0" y="7973060"/>
                    <a:pt x="0" y="7882128"/>
                  </a:cubicBezTo>
                  <a:close/>
                </a:path>
              </a:pathLst>
            </a:custGeom>
            <a:solidFill>
              <a:srgbClr val="3A4A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24678" y="3223260"/>
            <a:ext cx="630936" cy="630936"/>
            <a:chOff x="0" y="0"/>
            <a:chExt cx="841248" cy="84124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389120" y="4114800"/>
            <a:ext cx="2702052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Limited Specialised Training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30268" y="5282565"/>
            <a:ext cx="2619756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0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Law enforcement often lacks specialised cyber-investigation expertise.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43800" y="2811780"/>
            <a:ext cx="3113532" cy="6035040"/>
            <a:chOff x="0" y="0"/>
            <a:chExt cx="4151376" cy="8046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51376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513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986784" y="0"/>
                  </a:lnTo>
                  <a:cubicBezTo>
                    <a:pt x="4077716" y="0"/>
                    <a:pt x="4151376" y="73660"/>
                    <a:pt x="4151376" y="164592"/>
                  </a:cubicBezTo>
                  <a:lnTo>
                    <a:pt x="4151376" y="7882128"/>
                  </a:lnTo>
                  <a:cubicBezTo>
                    <a:pt x="4151376" y="7973060"/>
                    <a:pt x="4077716" y="8046720"/>
                    <a:pt x="3986784" y="8046720"/>
                  </a:cubicBezTo>
                  <a:lnTo>
                    <a:pt x="164592" y="8046720"/>
                  </a:lnTo>
                  <a:cubicBezTo>
                    <a:pt x="73660" y="8046720"/>
                    <a:pt x="0" y="7973060"/>
                    <a:pt x="0" y="7882128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785098" y="3223260"/>
            <a:ext cx="630936" cy="630936"/>
            <a:chOff x="0" y="0"/>
            <a:chExt cx="841248" cy="841248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749540" y="4114800"/>
            <a:ext cx="2702052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Cross-Border Jurisdiction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90688" y="5282565"/>
            <a:ext cx="2619756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0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Cybercrime frequently crosses national borders, complicating enforcement.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904220" y="2811780"/>
            <a:ext cx="3113532" cy="6035040"/>
            <a:chOff x="0" y="0"/>
            <a:chExt cx="4151376" cy="8046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51376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513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986784" y="0"/>
                  </a:lnTo>
                  <a:cubicBezTo>
                    <a:pt x="4077716" y="0"/>
                    <a:pt x="4151376" y="73660"/>
                    <a:pt x="4151376" y="164592"/>
                  </a:cubicBezTo>
                  <a:lnTo>
                    <a:pt x="4151376" y="7882128"/>
                  </a:lnTo>
                  <a:cubicBezTo>
                    <a:pt x="4151376" y="7973060"/>
                    <a:pt x="4077716" y="8046720"/>
                    <a:pt x="3986784" y="8046720"/>
                  </a:cubicBezTo>
                  <a:lnTo>
                    <a:pt x="164592" y="8046720"/>
                  </a:lnTo>
                  <a:cubicBezTo>
                    <a:pt x="73660" y="8046720"/>
                    <a:pt x="0" y="7973060"/>
                    <a:pt x="0" y="7882128"/>
                  </a:cubicBezTo>
                  <a:close/>
                </a:path>
              </a:pathLst>
            </a:custGeom>
            <a:solidFill>
              <a:srgbClr val="3A4A6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45518" y="3223260"/>
            <a:ext cx="630936" cy="630936"/>
            <a:chOff x="0" y="0"/>
            <a:chExt cx="841248" cy="841248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109960" y="4114800"/>
            <a:ext cx="2702052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Emerging AI Threats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51108" y="5282565"/>
            <a:ext cx="2619756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0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Deepfakes and AI-driven fraud raise concerns not fully addressed by current law.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264640" y="2811780"/>
            <a:ext cx="3113532" cy="6035040"/>
            <a:chOff x="0" y="0"/>
            <a:chExt cx="4151376" cy="8046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51376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513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986784" y="0"/>
                  </a:lnTo>
                  <a:cubicBezTo>
                    <a:pt x="4077716" y="0"/>
                    <a:pt x="4151376" y="73660"/>
                    <a:pt x="4151376" y="164592"/>
                  </a:cubicBezTo>
                  <a:lnTo>
                    <a:pt x="4151376" y="7882128"/>
                  </a:lnTo>
                  <a:cubicBezTo>
                    <a:pt x="4151376" y="7973060"/>
                    <a:pt x="4077716" y="8046720"/>
                    <a:pt x="3986784" y="8046720"/>
                  </a:cubicBezTo>
                  <a:lnTo>
                    <a:pt x="164592" y="8046720"/>
                  </a:lnTo>
                  <a:cubicBezTo>
                    <a:pt x="73660" y="8046720"/>
                    <a:pt x="0" y="7973060"/>
                    <a:pt x="0" y="7882128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505938" y="3223260"/>
            <a:ext cx="630936" cy="630936"/>
            <a:chOff x="0" y="0"/>
            <a:chExt cx="841248" cy="841248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470380" y="4114800"/>
            <a:ext cx="2702052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Quantum Computing Risk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11528" y="5282565"/>
            <a:ext cx="2619756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00">
                <a:solidFill>
                  <a:srgbClr val="D8DCE6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quantum capabilities may undermine existing cryptographic protections.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B4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14800" y="-411480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16213E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30200" y="548640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A4A6B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1600" y="1165860"/>
            <a:ext cx="15540228" cy="548640"/>
            <a:chOff x="0" y="0"/>
            <a:chExt cx="20720304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0304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913" r="0" b="-5019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7203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45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1600" y="1783080"/>
            <a:ext cx="15540228" cy="1097280"/>
            <a:chOff x="0" y="0"/>
            <a:chExt cx="2072030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0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956" r="0" b="-22595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720304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Foundational Law, Still Evolving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3080" y="3525012"/>
            <a:ext cx="246888" cy="246888"/>
            <a:chOff x="0" y="0"/>
            <a:chExt cx="329184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1720" y="3291840"/>
            <a:ext cx="13578840" cy="891540"/>
            <a:chOff x="0" y="0"/>
            <a:chExt cx="1810512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051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72" r="0" b="-2467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8105120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E4E7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IT Act, 2000 remains the foundational cyber law of India, having evolved through amendments and judicial interpretation over more than two decades.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83080" y="4690872"/>
            <a:ext cx="246888" cy="246888"/>
            <a:chOff x="0" y="0"/>
            <a:chExt cx="329184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331720" y="4457700"/>
            <a:ext cx="13578840" cy="891540"/>
            <a:chOff x="0" y="0"/>
            <a:chExt cx="18105120" cy="1188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1051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72" r="0" b="-24677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8105120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E4E7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Landmark moments — from the 2008 amendment to the striking down of Section 66A — show a law shaped continuously by technology and the courts.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83080" y="5856732"/>
            <a:ext cx="246888" cy="246888"/>
            <a:chOff x="0" y="0"/>
            <a:chExt cx="329184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31720" y="5623560"/>
            <a:ext cx="13578840" cy="891540"/>
            <a:chOff x="0" y="0"/>
            <a:chExt cx="1810512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1051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72" r="0" b="-2467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8105120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E4E7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Yet it continues to require updates to address emerging threats: AI-driven fraud, deepfakes, and quantum computing risks.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57400" y="7475220"/>
            <a:ext cx="14168628" cy="822960"/>
            <a:chOff x="0" y="0"/>
            <a:chExt cx="18891504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8915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891504">
                  <a:moveTo>
                    <a:pt x="0" y="0"/>
                  </a:moveTo>
                  <a:lnTo>
                    <a:pt x="18891504" y="0"/>
                  </a:lnTo>
                  <a:lnTo>
                    <a:pt x="188915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467" r="0" b="-2854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8891504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i="true">
                  <a:solidFill>
                    <a:srgbClr val="C9A24B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“Legal awareness is the first line of defence in the digital age.”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8915400"/>
            <a:ext cx="15540228" cy="822960"/>
            <a:chOff x="0" y="0"/>
            <a:chExt cx="20720304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720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942" r="0" b="-3179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0720304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1600" y="9669780"/>
            <a:ext cx="15540228" cy="411480"/>
            <a:chOff x="0" y="0"/>
            <a:chExt cx="20720304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720304" cy="548640"/>
            </a:xfrm>
            <a:custGeom>
              <a:avLst/>
              <a:gdLst/>
              <a:ahLst/>
              <a:cxnLst/>
              <a:rect r="r" b="b" t="t" l="l"/>
              <a:pathLst>
                <a:path h="54864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5884" r="0" b="-68588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072030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AA2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are welcome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915943" y="9532620"/>
            <a:ext cx="822960" cy="411480"/>
            <a:chOff x="0" y="0"/>
            <a:chExt cx="109728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3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DAHNF71Jcyw</dc:identifier>
  <dcterms:modified xsi:type="dcterms:W3CDTF">2011-08-01T06:04:30Z</dcterms:modified>
  <cp:revision>1</cp:revision>
  <dc:title>IT_Act_2000_Presentation.pptx</dc:title>
</cp:coreProperties>
</file>